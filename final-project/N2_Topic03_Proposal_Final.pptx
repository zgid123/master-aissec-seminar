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67d1559c2d4ac5" /><Relationship Type="http://schemas.openxmlformats.org/officeDocument/2006/relationships/extended-properties" Target="/docProps/app.xml" Id="R115c8d873e5947f4" /><Relationship Type="http://schemas.openxmlformats.org/officeDocument/2006/relationships/officeDocument" Target="/ppt/presentation.xml" Id="Ra939b4ecedac47a8" /></Relationships>
</file>

<file path=ppt/presentation.xml><?xml version="1.0" encoding="utf-8"?>
<p:presentation xmlns:p="http://schemas.openxmlformats.org/presentationml/2006/main">
  <p:sldMasterIdLst>
    <p:sldMasterId xmlns:r="http://schemas.openxmlformats.org/officeDocument/2006/relationships" id="2147483648" r:id="Rb90ad0be82ba4e68"/>
  </p:sldMasterIdLst>
  <p:notesMasterIdLst>
    <p:notesMasterId xmlns:r="http://schemas.openxmlformats.org/officeDocument/2006/relationships" r:id="R5d1902660c3e4be7"/>
  </p:notesMasterIdLst>
  <p:sldIdLst>
    <p:sldId xmlns:r="http://schemas.openxmlformats.org/officeDocument/2006/relationships" id="256" r:id="Re584e705bb8b42dd"/>
    <p:sldId xmlns:r="http://schemas.openxmlformats.org/officeDocument/2006/relationships" id="257" r:id="R691b9069b92f4575"/>
    <p:sldId xmlns:r="http://schemas.openxmlformats.org/officeDocument/2006/relationships" id="258" r:id="R0f01233fbd2b4bed"/>
    <p:sldId xmlns:r="http://schemas.openxmlformats.org/officeDocument/2006/relationships" id="259" r:id="Rbfb3b96c0e464989"/>
    <p:sldId xmlns:r="http://schemas.openxmlformats.org/officeDocument/2006/relationships" id="260" r:id="R321b005b20ba4a3b"/>
    <p:sldId xmlns:r="http://schemas.openxmlformats.org/officeDocument/2006/relationships" id="261" r:id="R01bc899787514d55"/>
    <p:sldId xmlns:r="http://schemas.openxmlformats.org/officeDocument/2006/relationships" id="262" r:id="Ra8dcd3c16a5247bb"/>
    <p:sldId xmlns:r="http://schemas.openxmlformats.org/officeDocument/2006/relationships" id="263" r:id="R362ba4e71ef94ca6"/>
    <p:sldId xmlns:r="http://schemas.openxmlformats.org/officeDocument/2006/relationships" id="264" r:id="R57462c22b822426f"/>
    <p:sldId xmlns:r="http://schemas.openxmlformats.org/officeDocument/2006/relationships" id="265" r:id="Rb1f08659608e4d17"/>
    <p:sldId xmlns:r="http://schemas.openxmlformats.org/officeDocument/2006/relationships" id="266" r:id="R034d8605ac5f4aab"/>
    <p:sldId xmlns:r="http://schemas.openxmlformats.org/officeDocument/2006/relationships" id="267" r:id="R1564a35cceb64325"/>
    <p:sldId xmlns:r="http://schemas.openxmlformats.org/officeDocument/2006/relationships" id="268" r:id="R90041a5b822c4b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7a8ab0a2f945d4" /><Relationship Type="http://schemas.openxmlformats.org/officeDocument/2006/relationships/slideMaster" Target="/ppt/slideMasters/slideMaster1.xml" Id="Rb90ad0be82ba4e68" /><Relationship Type="http://schemas.openxmlformats.org/officeDocument/2006/relationships/notesMaster" Target="/ppt/notesMasters/notesMaster1.xml" Id="R5d1902660c3e4be7" /><Relationship Type="http://schemas.openxmlformats.org/officeDocument/2006/relationships/presProps" Target="/ppt/presProps.xml" Id="R98ea7e9c694a4499" /><Relationship Type="http://schemas.openxmlformats.org/officeDocument/2006/relationships/tableStyles" Target="/ppt/tableStyles.xml" Id="Rc5243a7e92dc44ce" /><Relationship Type="http://schemas.openxmlformats.org/officeDocument/2006/relationships/slide" Target="/ppt/slides/slide1.xml" Id="Re584e705bb8b42dd" /><Relationship Type="http://schemas.openxmlformats.org/officeDocument/2006/relationships/slide" Target="/ppt/slides/slide2.xml" Id="R691b9069b92f4575" /><Relationship Type="http://schemas.openxmlformats.org/officeDocument/2006/relationships/slide" Target="/ppt/slides/slide3.xml" Id="R0f01233fbd2b4bed" /><Relationship Type="http://schemas.openxmlformats.org/officeDocument/2006/relationships/slide" Target="/ppt/slides/slide4.xml" Id="Rbfb3b96c0e464989" /><Relationship Type="http://schemas.openxmlformats.org/officeDocument/2006/relationships/slide" Target="/ppt/slides/slide5.xml" Id="R321b005b20ba4a3b" /><Relationship Type="http://schemas.openxmlformats.org/officeDocument/2006/relationships/slide" Target="/ppt/slides/slide6.xml" Id="R01bc899787514d55" /><Relationship Type="http://schemas.openxmlformats.org/officeDocument/2006/relationships/slide" Target="/ppt/slides/slide7.xml" Id="Ra8dcd3c16a5247bb" /><Relationship Type="http://schemas.openxmlformats.org/officeDocument/2006/relationships/slide" Target="/ppt/slides/slide8.xml" Id="R362ba4e71ef94ca6" /><Relationship Type="http://schemas.openxmlformats.org/officeDocument/2006/relationships/slide" Target="/ppt/slides/slide9.xml" Id="R57462c22b822426f" /><Relationship Type="http://schemas.openxmlformats.org/officeDocument/2006/relationships/slide" Target="/ppt/slides/slide10.xml" Id="Rb1f08659608e4d17" /><Relationship Type="http://schemas.openxmlformats.org/officeDocument/2006/relationships/slide" Target="/ppt/slides/slide11.xml" Id="R034d8605ac5f4aab" /><Relationship Type="http://schemas.openxmlformats.org/officeDocument/2006/relationships/slide" Target="/ppt/slides/slide12.xml" Id="R1564a35cceb64325" /><Relationship Type="http://schemas.openxmlformats.org/officeDocument/2006/relationships/slide" Target="/ppt/slides/slide13.xml" Id="R90041a5b822c4b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1ab5fa7b364c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9eef270efc46ca" /><Relationship Type="http://schemas.openxmlformats.org/officeDocument/2006/relationships/notesMaster" Target="/ppt/notesMasters/notesMaster1.xml" Id="R5c755ace63cd4f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6c0262215741de" /><Relationship Type="http://schemas.openxmlformats.org/officeDocument/2006/relationships/notesMaster" Target="/ppt/notesMasters/notesMaster1.xml" Id="R445dd1f6b9c742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2562c334634c09" /><Relationship Type="http://schemas.openxmlformats.org/officeDocument/2006/relationships/notesMaster" Target="/ppt/notesMasters/notesMaster1.xml" Id="Rc754971e5dd74a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ad0036d7504683" /><Relationship Type="http://schemas.openxmlformats.org/officeDocument/2006/relationships/notesMaster" Target="/ppt/notesMasters/notesMaster1.xml" Id="R33112776e7a242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3e923a4b6c4deb" /><Relationship Type="http://schemas.openxmlformats.org/officeDocument/2006/relationships/notesMaster" Target="/ppt/notesMasters/notesMaster1.xml" Id="Rd2dc04ca9e5541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224119095945d6" /><Relationship Type="http://schemas.openxmlformats.org/officeDocument/2006/relationships/notesMaster" Target="/ppt/notesMasters/notesMaster1.xml" Id="Re252aa93b03e46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c6d8356999471b" /><Relationship Type="http://schemas.openxmlformats.org/officeDocument/2006/relationships/notesMaster" Target="/ppt/notesMasters/notesMaster1.xml" Id="R2ad07f48ad9e44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d30242e0834899" /><Relationship Type="http://schemas.openxmlformats.org/officeDocument/2006/relationships/notesMaster" Target="/ppt/notesMasters/notesMaster1.xml" Id="Rd9afb6d9f33841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4cf07aa0c54e4b" /><Relationship Type="http://schemas.openxmlformats.org/officeDocument/2006/relationships/notesMaster" Target="/ppt/notesMasters/notesMaster1.xml" Id="R478f91a82a3440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79194fd4924658" /><Relationship Type="http://schemas.openxmlformats.org/officeDocument/2006/relationships/notesMaster" Target="/ppt/notesMasters/notesMaster1.xml" Id="R275f2b1ae45d43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b1a44ddfc6492a" /><Relationship Type="http://schemas.openxmlformats.org/officeDocument/2006/relationships/notesMaster" Target="/ppt/notesMasters/notesMaster1.xml" Id="R4547dbfff19e44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7644399c0b4a28" /><Relationship Type="http://schemas.openxmlformats.org/officeDocument/2006/relationships/notesMaster" Target="/ppt/notesMasters/notesMaster1.xml" Id="R3f2695fecd1740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b14f810e054d6e" /><Relationship Type="http://schemas.openxmlformats.org/officeDocument/2006/relationships/notesMaster" Target="/ppt/notesMasters/notesMaster1.xml" Id="R09229e7681e44c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ngắn: đề tài không thay thế MFA. Mục tiêu là phát hiện khả năng đổi người sau khi phiên đã được xác thực.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 xem giám sát phiên là việc đánh giá liên tục các đặc trưng của phiên. Nhịp gõ là một tín hiệu có thể dùng, nhưng phải đánh giá rủi ro riêng tư.</a:t>
            </a:r>
          </a:p>
          <a:p xmlns:a="http://schemas.openxmlformats.org/drawingml/2006/main">
            <a:r>
              <a:t/>
            </a:r>
          </a:p>
          <a:p xmlns:a="http://schemas.openxmlformats.org/drawingml/2006/main">
            <a:r>
              <a:t>Nguồn:</a:t>
            </a:r>
          </a:p>
          <a:p xmlns:a="http://schemas.openxmlformats.org/drawingml/2006/main">
            <a:r>
              <a:t>https://pages.nist.gov/800-63-4/sp800-63b/session/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thuyết trình, nhấn mạnh A4 tấn công vào dữ liệu truyền, khác với việc bắt chước nhịp gõ. Hai loại này cần đánh giá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trống được viết thận trọng. Đề tài không khẳng định chưa từng có ai dùng ngưỡng thích ứng. Phần mới nằm ở quy trình so sánh công bằng tại cùng TTD, trên các phiên khác ngày.</a:t>
            </a:r>
          </a:p>
          <a:p xmlns:a="http://schemas.openxmlformats.org/drawingml/2006/main">
            <a:r>
              <a:t/>
            </a:r>
          </a:p>
          <a:p xmlns:a="http://schemas.openxmlformats.org/drawingml/2006/main">
            <a:r>
              <a:t>Nguồn:</a:t>
            </a:r>
          </a:p>
          <a:p xmlns:a="http://schemas.openxmlformats.org/drawingml/2006/main">
            <a:r>
              <a:t>https://doi.org/10.1145/1085126.1085129</a:t>
            </a:r>
          </a:p>
          <a:p xmlns:a="http://schemas.openxmlformats.org/drawingml/2006/main">
            <a:r>
              <a:t>https://doi.org/10.1109/DSN.2009.5270346</a:t>
            </a:r>
          </a:p>
          <a:p xmlns:a="http://schemas.openxmlformats.org/drawingml/2006/main">
            <a:r>
              <a:t>https://doi.org/10.1016/j.istr.2012.02.001</a:t>
            </a:r>
          </a:p>
          <a:p xmlns:a="http://schemas.openxmlformats.org/drawingml/2006/main">
            <a:r>
              <a:t>https://doi.org/10.1016/j.cose.2011.10.001</a:t>
            </a:r>
          </a:p>
          <a:p xmlns:a="http://schemas.openxmlformats.org/drawingml/2006/main">
            <a:r>
              <a:t>https://doi.org/10.1145/3344255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 thuyết được viết theo hướng so sánh, không gài sẵn một mức cải thiện. Ngưỡng thành công sẽ nêu riêng ở slide kế hoạch.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Ký hiệu: aᵤ là tập điểm bất thường trong dữ liệu huấn luyện của người dùng u. MAD là trung vị của |a - median(a)|. Hệ số 1.4826 đưa MAD về thang gần tương đương độ lệch chuẩn khi phân phối gần chuẩn.</a:t>
            </a:r>
          </a:p>
          <a:p xmlns:a="http://schemas.openxmlformats.org/drawingml/2006/main">
            <a:r>
              <a:t/>
            </a:r>
          </a:p>
          <a:p xmlns:a="http://schemas.openxmlformats.org/drawingml/2006/main">
            <a:r>
              <a:t>Nguồn:</a:t>
            </a:r>
          </a:p>
          <a:p xmlns:a="http://schemas.openxmlformats.org/drawingml/2006/main">
            <a:r>
              <a:t>https://doi.org/10.1109/ICDM.2008.17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phần toán trung tâm của đề tài. Ngưỡng h1 và h2 được học trên tập validation, không được chọn lại trên tập test. B là ngân sách thời gian phát hiện. Alpha là mức chấp nhận sai kẻ tấn công.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Cỡ mẫu 20 người là mục tiêu khả thi cho đồ án, không phải khẳng định đủ cho triển khai thực tế. Nếu không đủ người, nhóm ưu tiên nhiều phiên trên mỗi người hơn là thêm model phức tạp.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Isolation Forest và One-Class SVM là hai bộ phát hiện ứng viên. So sánh chính của nghiên cứu nằm ở bốn cách ra quyết định B0-B1-P1-P2, không phải cuộc thi nhiều mô hình học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EER được giữ lại để so sánh bộ phát hiện, nhưng kết luận chính dựa trên TTD và số lần MFA mỗi giờ. Wilcoxon phù hợp với cỡ mẫu nhỏ và không đòi hỏi phân phối chuẩn.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Hệ thống thử nghiệm thu thời điểm sự kiện, không thu nội dung văn bản. Cần có phiếu đồng thuận và lịch xóa dữ liệu. Sinh trắc hành vi không được coi là bí mật hoặc yếu tố xác thực độc lập.</a:t>
            </a:r>
          </a:p>
          <a:p xmlns:a="http://schemas.openxmlformats.org/drawingml/2006/main">
            <a:r>
              <a:t/>
            </a:r>
          </a:p>
          <a:p xmlns:a="http://schemas.openxmlformats.org/drawingml/2006/main">
            <a:r>
              <a:t>Nguồn:</a:t>
            </a:r>
          </a:p>
          <a:p xmlns:a="http://schemas.openxmlformats.org/drawingml/2006/main">
            <a:r>
              <a:t>https://pages.nist.gov/800-63-4/sp800-63b/session/</a:t>
            </a:r>
          </a:p>
          <a:p xmlns:a="http://schemas.openxmlformats.org/drawingml/2006/main">
            <a:r>
              <a:t>https://pages.nist.gov/800-63-4/sp800-63b.html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ngưỡng Go/No-go là tiêu chí quản lý phạm vi, không phải giả thuyết thống kê. Nếu khó thu đủ dữ liệu, không nên bù bằng cách thử thêm nhiều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phạm vi cụ thể. Đề tài có thể cho kết quả rằng ngưỡng thích ứng không tốt hơn. Kết quả âm vẫn có giá trị nếu quy trình đúng và phân tích đầy đủ.</a:t>
            </a:r>
          </a:p>
          <a:p xmlns:a="http://schemas.openxmlformats.org/drawingml/2006/main">
            <a:r>
              <a:t/>
            </a:r>
          </a:p>
          <a:p xmlns:a="http://schemas.openxmlformats.org/drawingml/2006/main">
            <a:r>
              <a:t>Nguồn:</a:t>
            </a:r>
          </a:p>
          <a:p xmlns:a="http://schemas.openxmlformats.org/drawingml/2006/main">
            <a:r>
              <a:t>https://pages.nist.gov/800-63-4/sp800-63b/session/</a:t>
            </a:r>
          </a:p>
          <a:p xmlns:a="http://schemas.openxmlformats.org/drawingml/2006/main">
            <a:r>
              <a:t>https://doi.org/10.1145/1085126.1085129</a:t>
            </a:r>
          </a:p>
          <a:p xmlns:a="http://schemas.openxmlformats.org/drawingml/2006/main">
            <a:r>
              <a:t>https://doi.org/10.1109/DSN.2009.5270346</a:t>
            </a:r>
          </a:p>
          <a:p xmlns:a="http://schemas.openxmlformats.org/drawingml/2006/main">
            <a:r>
              <a:t>https://doi.org/10.1016/j.istr.2012.02.001</a:t>
            </a:r>
          </a:p>
          <a:p xmlns:a="http://schemas.openxmlformats.org/drawingml/2006/main">
            <a:r>
              <a:t>https://doi.org/10.1016/j.cose.2011.10.001</a:t>
            </a:r>
          </a:p>
          <a:p xmlns:a="http://schemas.openxmlformats.org/drawingml/2006/main">
            <a:r>
              <a:t>https://doi.org/10.1145/3344255</a:t>
            </a:r>
          </a:p>
          <a:p xmlns:a="http://schemas.openxmlformats.org/drawingml/2006/main">
            <a:r>
              <a:t>https://doi.org/10.1109/ICDM.2008.17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4c1ede93ac4b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b29741a7224fb5" /><Relationship Type="http://schemas.openxmlformats.org/officeDocument/2006/relationships/slideLayout" Target="/ppt/slideLayouts/slideLayout1.xml" Id="Rdfbd2b28d8d042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bd2b28d8d042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612d1f2f304f2f" /><Relationship Type="http://schemas.openxmlformats.org/officeDocument/2006/relationships/image" Target="/ppt/media/image.png" Id="Re2a90cd4d3e34fa0" /><Relationship Type="http://schemas.openxmlformats.org/officeDocument/2006/relationships/notesSlide" Target="/ppt/notesSlides/notesSlide1.xml" Id="R9b129d7e3f2e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b8a6bc15d9454d" /><Relationship Type="http://schemas.openxmlformats.org/officeDocument/2006/relationships/notesSlide" Target="/ppt/notesSlides/notesSlide2.xml" Id="Rb9081e20f96c4d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5df6cf2f11424d" /><Relationship Type="http://schemas.openxmlformats.org/officeDocument/2006/relationships/notesSlide" Target="/ppt/notesSlides/notesSlide3.xml" Id="R03d2f118694a42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a2c01a9b2b40cf" /><Relationship Type="http://schemas.openxmlformats.org/officeDocument/2006/relationships/notesSlide" Target="/ppt/notesSlides/notesSlide4.xml" Id="R0f70cd6af12b40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7ace1825c94439" /><Relationship Type="http://schemas.openxmlformats.org/officeDocument/2006/relationships/notesSlide" Target="/ppt/notesSlides/notesSlide5.xml" Id="Rf9b01546fab643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6bc683b24b474f" /><Relationship Type="http://schemas.openxmlformats.org/officeDocument/2006/relationships/notesSlide" Target="/ppt/notesSlides/notesSlide6.xml" Id="Rce21c8c67b854e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00470bb146422d" /><Relationship Type="http://schemas.openxmlformats.org/officeDocument/2006/relationships/notesSlide" Target="/ppt/notesSlides/notesSlide7.xml" Id="Ra7a57b53c5cf43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79bc65fc1744d3" /><Relationship Type="http://schemas.openxmlformats.org/officeDocument/2006/relationships/notesSlide" Target="/ppt/notesSlides/notesSlide8.xml" Id="Rd10919cab0e343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887936ac33040de" /><Relationship Type="http://schemas.openxmlformats.org/officeDocument/2006/relationships/notesSlide" Target="/ppt/notesSlides/notesSlide9.xml" Id="R0c6eff0afa8a46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91eccd09f04d7f" /><Relationship Type="http://schemas.openxmlformats.org/officeDocument/2006/relationships/notesSlide" Target="/ppt/notesSlides/notesSlide10.xml" Id="R36520682b98d40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805513dfec45d8" /><Relationship Type="http://schemas.openxmlformats.org/officeDocument/2006/relationships/notesSlide" Target="/ppt/notesSlides/notesSlide11.xml" Id="R1a892f5b81f845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a167b84d914d95" /><Relationship Type="http://schemas.openxmlformats.org/officeDocument/2006/relationships/notesSlide" Target="/ppt/notesSlides/notesSlide12.xml" Id="R9380eb1c461c4d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ee12d6de004f6a" /><Relationship Type="http://schemas.openxmlformats.org/officeDocument/2006/relationships/notesSlide" Target="/ppt/notesSlides/notesSlide13.xml" Id="Rce9aa291c2ee4abf" /></Relationships>
</file>

<file path=ppt/slides/slide1.xml><?xml version="1.0" encoding="utf-8"?>
<p:sld xmlns:p="http://schemas.openxmlformats.org/presentationml/2006/main">
  <p:cSld>
    <p:bg>
      <p:bgPr>
        <a:solidFill xmlns:a="http://schemas.openxmlformats.org/drawingml/2006/main">
          <a:srgbClr val="102A5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2a90cd4d3e34fa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F635CE-2C40-4EE6-B56C-F4A301F32850}"/>
              </a:ext>
            </a:extLst>
          </p:cNvPr>
          <p:cNvSpPr>
            <a:spLocks xmlns:a="http://schemas.openxmlformats.org/drawingml/2006/main" noGrp="1"/>
          </p:cNvSpPr>
          <p:nvPr/>
        </p:nvSpPr>
        <p:spPr>
          <a:xfrm xmlns:a="http://schemas.openxmlformats.org/drawingml/2006/main">
            <a:off x="0" y="0"/>
            <a:ext cx="7048500" cy="6858000"/>
          </a:xfrm>
          <a:prstGeom xmlns:a="http://schemas.openxmlformats.org/drawingml/2006/main" prst="rect">
            <a:avLst/>
          </a:prstGeom>
          <a:gradFill xmlns:a="http://schemas.openxmlformats.org/drawingml/2006/main">
            <a:gsLst>
              <a:gs pos="0">
                <a:srgbClr val="071B38"/>
              </a:gs>
              <a:gs pos="75000">
                <a:srgbClr val="071B38">
                  <a:alpha val="90980"/>
                </a:srgbClr>
              </a:gs>
              <a:gs pos="100000">
                <a:srgbClr val="071B38">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7C1244-B845-47D1-9E11-561D67D40A00}"/>
              </a:ext>
            </a:extLst>
          </p:cNvPr>
          <p:cNvSpPr>
            <a:spLocks xmlns:a="http://schemas.openxmlformats.org/drawingml/2006/main" noGrp="1"/>
          </p:cNvSpPr>
          <p:nvPr/>
        </p:nvSpPr>
        <p:spPr>
          <a:xfrm xmlns:a="http://schemas.openxmlformats.org/drawingml/2006/main">
            <a:off x="647700" y="5905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1200" b="1" i="0">
                <a:solidFill>
                  <a:srgbClr val="8EDBF0"/>
                </a:solidFill>
                <a:latin typeface="Segoe UI"/>
                <a:ea typeface="Segoe UI"/>
                <a:cs typeface="Segoe UI"/>
              </a:defRPr>
            </a:pPr>
            <a:r>
              <a:rPr sz="1200" b="1" i="0">
                <a:solidFill>
                  <a:srgbClr val="8EDBF0"/>
                </a:solidFill>
                <a:latin typeface="Segoe UI"/>
                <a:ea typeface="Segoe UI"/>
                <a:cs typeface="Segoe UI"/>
              </a:rPr>
              <a:t>ĐỀ XUẤT ĐỒ ÁN</a:t>
            </a:r>
          </a:p>
        </p:txBody>
      </p:sp>
      <p:sp>
        <p:nvSpPr>
          <p:cNvPr id="4" name="">
            <a:extLst xmlns:a="http://schemas.openxmlformats.org/drawingml/2006/main">
              <a:ext uri="{FF2B5EF4-FFF2-40B4-BE49-F238E27FC236}">
                <a16:creationId xmlns:a16="http://schemas.microsoft.com/office/drawing/2014/main" id="{3BCB8D28-AF2E-4317-BC9E-C80736373A5F}"/>
              </a:ext>
            </a:extLst>
          </p:cNvPr>
          <p:cNvSpPr>
            <a:spLocks xmlns:a="http://schemas.openxmlformats.org/drawingml/2006/main" noGrp="1"/>
          </p:cNvSpPr>
          <p:nvPr/>
        </p:nvSpPr>
        <p:spPr>
          <a:xfrm xmlns:a="http://schemas.openxmlformats.org/drawingml/2006/main">
            <a:off x="647700" y="1143000"/>
            <a:ext cx="571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96000"/>
              </a:lnSpc>
              <a:buNone/>
              <a:defRPr sz="3375" b="1" i="0">
                <a:solidFill>
                  <a:srgbClr val="FFFFFF"/>
                </a:solidFill>
                <a:latin typeface="Segoe UI"/>
                <a:ea typeface="Segoe UI"/>
                <a:cs typeface="Segoe UI"/>
              </a:defRPr>
            </a:pPr>
            <a:r>
              <a:rPr sz="3375" b="1" i="0">
                <a:solidFill>
                  <a:srgbClr val="FFFFFF"/>
                </a:solidFill>
                <a:latin typeface="Segoe UI"/>
                <a:ea typeface="Segoe UI"/>
                <a:cs typeface="Segoe UI"/>
              </a:rPr>
              <a:t>Xác thực liên tục</a:t>
            </a:r>
          </a:p>
          <a:p xmlns:a="http://schemas.openxmlformats.org/drawingml/2006/main">
            <a:pPr algn="l">
              <a:lnSpc>
                <a:spcPct val="96000"/>
              </a:lnSpc>
              <a:buNone/>
              <a:defRPr sz="3375" b="1" i="0">
                <a:solidFill>
                  <a:srgbClr val="FFFFFF"/>
                </a:solidFill>
                <a:latin typeface="Segoe UI"/>
                <a:ea typeface="Segoe UI"/>
                <a:cs typeface="Segoe UI"/>
              </a:defRPr>
            </a:pPr>
            <a:r>
              <a:rPr sz="3375" b="1" i="0">
                <a:solidFill>
                  <a:srgbClr val="FFFFFF"/>
                </a:solidFill>
                <a:latin typeface="Segoe UI"/>
                <a:ea typeface="Segoe UI"/>
                <a:cs typeface="Segoe UI"/>
              </a:rPr>
              <a:t>dựa trên nhịp gõ phím</a:t>
            </a:r>
          </a:p>
        </p:txBody>
      </p:sp>
      <p:sp>
        <p:nvSpPr>
          <p:cNvPr id="5" name="">
            <a:extLst xmlns:a="http://schemas.openxmlformats.org/drawingml/2006/main">
              <a:ext uri="{FF2B5EF4-FFF2-40B4-BE49-F238E27FC236}">
                <a16:creationId xmlns:a16="http://schemas.microsoft.com/office/drawing/2014/main" id="{B738AB51-44F9-407A-91B8-71CD41FEED68}"/>
              </a:ext>
            </a:extLst>
          </p:cNvPr>
          <p:cNvSpPr>
            <a:spLocks xmlns:a="http://schemas.openxmlformats.org/drawingml/2006/main" noGrp="1"/>
          </p:cNvSpPr>
          <p:nvPr/>
        </p:nvSpPr>
        <p:spPr>
          <a:xfrm xmlns:a="http://schemas.openxmlformats.org/drawingml/2006/main">
            <a:off x="666750" y="287655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5000"/>
              </a:lnSpc>
              <a:buNone/>
              <a:defRPr sz="1725" b="0" i="0">
                <a:solidFill>
                  <a:srgbClr val="DCE8F8"/>
                </a:solidFill>
                <a:latin typeface="Segoe UI"/>
                <a:ea typeface="Segoe UI"/>
                <a:cs typeface="Segoe UI"/>
              </a:defRPr>
            </a:pPr>
            <a:r>
              <a:rPr sz="1725" b="0" i="0">
                <a:solidFill>
                  <a:srgbClr val="DCE8F8"/>
                </a:solidFill>
                <a:latin typeface="Segoe UI"/>
                <a:ea typeface="Segoe UI"/>
                <a:cs typeface="Segoe UI"/>
              </a:rPr>
              <a:t>Cộng dồn bằng chứng bất thường và điều chỉnh ngưỡng theo từng người dùng</a:t>
            </a:r>
          </a:p>
        </p:txBody>
      </p:sp>
      <p:sp>
        <p:nvSpPr>
          <p:cNvPr id="6" name="">
            <a:extLst xmlns:a="http://schemas.openxmlformats.org/drawingml/2006/main">
              <a:ext uri="{FF2B5EF4-FFF2-40B4-BE49-F238E27FC236}">
                <a16:creationId xmlns:a16="http://schemas.microsoft.com/office/drawing/2014/main" id="{7A70CE11-5D7F-44E9-97BA-58A8949D3DA5}"/>
              </a:ext>
            </a:extLst>
          </p:cNvPr>
          <p:cNvSpPr>
            <a:spLocks xmlns:a="http://schemas.openxmlformats.org/drawingml/2006/main" noGrp="1"/>
          </p:cNvSpPr>
          <p:nvPr/>
        </p:nvSpPr>
        <p:spPr>
          <a:xfrm xmlns:a="http://schemas.openxmlformats.org/drawingml/2006/main">
            <a:off x="666750" y="4476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Segoe UI"/>
                <a:ea typeface="Segoe UI"/>
                <a:cs typeface="Segoe UI"/>
              </a:defRPr>
            </a:pPr>
            <a:r>
              <a:rPr sz="1350" b="1" i="0">
                <a:solidFill>
                  <a:srgbClr val="FFFFFF"/>
                </a:solidFill>
                <a:latin typeface="Segoe UI"/>
                <a:ea typeface="Segoe UI"/>
                <a:cs typeface="Segoe UI"/>
              </a:rPr>
              <a:t>Nhóm 02</a:t>
            </a:r>
          </a:p>
        </p:txBody>
      </p:sp>
      <p:sp>
        <p:nvSpPr>
          <p:cNvPr id="7" name="">
            <a:extLst xmlns:a="http://schemas.openxmlformats.org/drawingml/2006/main">
              <a:ext uri="{FF2B5EF4-FFF2-40B4-BE49-F238E27FC236}">
                <a16:creationId xmlns:a16="http://schemas.microsoft.com/office/drawing/2014/main" id="{585C551D-7058-49B5-BEA2-C8C44A625AA2}"/>
              </a:ext>
            </a:extLst>
          </p:cNvPr>
          <p:cNvSpPr>
            <a:spLocks xmlns:a="http://schemas.openxmlformats.org/drawingml/2006/main" noGrp="1"/>
          </p:cNvSpPr>
          <p:nvPr/>
        </p:nvSpPr>
        <p:spPr>
          <a:xfrm xmlns:a="http://schemas.openxmlformats.org/drawingml/2006/main">
            <a:off x="666750" y="48577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8000"/>
              </a:lnSpc>
              <a:buNone/>
              <a:defRPr sz="1350" b="0" i="0">
                <a:solidFill>
                  <a:srgbClr val="E5EDF8"/>
                </a:solidFill>
                <a:latin typeface="Segoe UI"/>
                <a:ea typeface="Segoe UI"/>
                <a:cs typeface="Segoe UI"/>
              </a:defRPr>
            </a:pPr>
            <a:r>
              <a:rPr sz="1350" b="0" i="0">
                <a:solidFill>
                  <a:srgbClr val="E5EDF8"/>
                </a:solidFill>
                <a:latin typeface="Segoe UI"/>
                <a:ea typeface="Segoe UI"/>
                <a:cs typeface="Segoe UI"/>
              </a:rPr>
              <a:t>Nguyễn Bảo Trâm  |  Trần Huy Vũ</a:t>
            </a:r>
          </a:p>
          <a:p xmlns:a="http://schemas.openxmlformats.org/drawingml/2006/main">
            <a:pPr algn="l">
              <a:lnSpc>
                <a:spcPct val="118000"/>
              </a:lnSpc>
              <a:buNone/>
              <a:defRPr sz="1350" b="0" i="0">
                <a:solidFill>
                  <a:srgbClr val="E5EDF8"/>
                </a:solidFill>
                <a:latin typeface="Segoe UI"/>
                <a:ea typeface="Segoe UI"/>
                <a:cs typeface="Segoe UI"/>
              </a:defRPr>
            </a:pPr>
            <a:r>
              <a:rPr sz="1350" b="0" i="0">
                <a:solidFill>
                  <a:srgbClr val="E5EDF8"/>
                </a:solidFill>
                <a:latin typeface="Segoe UI"/>
                <a:ea typeface="Segoe UI"/>
                <a:cs typeface="Segoe UI"/>
              </a:rPr>
              <a:t>Võ Công Minh  |  Dương Tấn Huỳnh Phong</a:t>
            </a:r>
          </a:p>
        </p:txBody>
      </p:sp>
      <p:sp>
        <p:nvSpPr>
          <p:cNvPr id="8" name="">
            <a:extLst xmlns:a="http://schemas.openxmlformats.org/drawingml/2006/main">
              <a:ext uri="{FF2B5EF4-FFF2-40B4-BE49-F238E27FC236}">
                <a16:creationId xmlns:a16="http://schemas.microsoft.com/office/drawing/2014/main" id="{A459F6C0-5FD9-473A-AD48-556754813B0F}"/>
              </a:ext>
            </a:extLst>
          </p:cNvPr>
          <p:cNvSpPr>
            <a:spLocks xmlns:a="http://schemas.openxmlformats.org/drawingml/2006/main" noGrp="1"/>
          </p:cNvSpPr>
          <p:nvPr/>
        </p:nvSpPr>
        <p:spPr>
          <a:xfrm xmlns:a="http://schemas.openxmlformats.org/drawingml/2006/main">
            <a:off x="666750" y="62103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125" b="0" i="0">
                <a:solidFill>
                  <a:srgbClr val="C7D5E8"/>
                </a:solidFill>
                <a:latin typeface="Segoe UI"/>
                <a:ea typeface="Segoe UI"/>
                <a:cs typeface="Segoe UI"/>
              </a:defRPr>
            </a:pPr>
            <a:r>
              <a:rPr sz="1125" b="0" i="0">
                <a:solidFill>
                  <a:srgbClr val="C7D5E8"/>
                </a:solidFill>
                <a:latin typeface="Segoe UI"/>
                <a:ea typeface="Segoe UI"/>
                <a:cs typeface="Segoe UI"/>
              </a:rPr>
              <a:t>MTH042  An toàn và bảo mật trong hệ thống thông tin</a:t>
            </a:r>
          </a:p>
        </p:txBody>
      </p:sp>
    </p:spTree>
    <p:extLst>
      <p:ext uri="{BB962C8B-B14F-4D97-AF65-F5344CB8AC3E}">
        <p14:creationId xmlns:p14="http://schemas.microsoft.com/office/powerpoint/2010/main" val="71086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C90C3B-7B83-48B2-A5E3-9DE323CF73D3}"/>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Bài toán cần giải quyết</a:t>
            </a:r>
          </a:p>
        </p:txBody>
      </p:sp>
      <p:sp>
        <p:nvSpPr>
          <p:cNvPr id="2" name="">
            <a:extLst xmlns:a="http://schemas.openxmlformats.org/drawingml/2006/main">
              <a:ext uri="{FF2B5EF4-FFF2-40B4-BE49-F238E27FC236}">
                <a16:creationId xmlns:a16="http://schemas.microsoft.com/office/drawing/2014/main" id="{BF988360-388E-4135-A22A-9D131E7CBF9F}"/>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9ACB6A9E-9372-4983-BAC6-788C49895C0F}"/>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B6A503B9-19DE-4762-81A3-155740FB0664}"/>
              </a:ext>
            </a:extLst>
          </p:cNvPr>
          <p:cNvSpPr>
            <a:spLocks xmlns:a="http://schemas.openxmlformats.org/drawingml/2006/main" noGrp="1"/>
          </p:cNvSpPr>
          <p:nvPr/>
        </p:nvSpPr>
        <p:spPr>
          <a:xfrm xmlns:a="http://schemas.openxmlformats.org/drawingml/2006/main">
            <a:off x="666750" y="1200150"/>
            <a:ext cx="685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584"/>
          </a:bodyPr>
          <a:lstStyle xmlns:a="http://schemas.openxmlformats.org/drawingml/2006/main"/>
          <a:p xmlns:a="http://schemas.openxmlformats.org/drawingml/2006/main">
            <a:pPr algn="l">
              <a:lnSpc>
                <a:spcPct val="108000"/>
              </a:lnSpc>
              <a:buNone/>
              <a:defRPr sz="2175" b="1" i="0">
                <a:solidFill>
                  <a:srgbClr val="142033"/>
                </a:solidFill>
                <a:latin typeface="Segoe UI"/>
                <a:ea typeface="Segoe UI"/>
                <a:cs typeface="Segoe UI"/>
              </a:defRPr>
            </a:pPr>
            <a:r>
              <a:rPr sz="2175" b="1" i="0">
                <a:solidFill>
                  <a:srgbClr val="142033"/>
                </a:solidFill>
                <a:latin typeface="Segoe UI"/>
                <a:ea typeface="Segoe UI"/>
                <a:cs typeface="Segoe UI"/>
              </a:rPr>
              <a:t>MFA chỉ xác nhận người dùng tại thời điểm đăng nhập</a:t>
            </a:r>
          </a:p>
        </p:txBody>
      </p:sp>
      <p:sp>
        <p:nvSpPr>
          <p:cNvPr id="5" name="">
            <a:extLst xmlns:a="http://schemas.openxmlformats.org/drawingml/2006/main">
              <a:ext uri="{FF2B5EF4-FFF2-40B4-BE49-F238E27FC236}">
                <a16:creationId xmlns:a16="http://schemas.microsoft.com/office/drawing/2014/main" id="{5CAF070E-D49F-4543-AD58-78B9402B1F80}"/>
              </a:ext>
            </a:extLst>
          </p:cNvPr>
          <p:cNvSpPr>
            <a:spLocks xmlns:a="http://schemas.openxmlformats.org/drawingml/2006/main" noGrp="1"/>
          </p:cNvSpPr>
          <p:nvPr/>
        </p:nvSpPr>
        <p:spPr>
          <a:xfrm xmlns:a="http://schemas.openxmlformats.org/drawingml/2006/main">
            <a:off x="666750" y="1943100"/>
            <a:ext cx="666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3000"/>
              </a:lnSpc>
              <a:buNone/>
              <a:defRPr sz="1725" b="0" i="0">
                <a:solidFill>
                  <a:srgbClr val="506079"/>
                </a:solidFill>
                <a:latin typeface="Segoe UI"/>
                <a:ea typeface="Segoe UI"/>
                <a:cs typeface="Segoe UI"/>
              </a:defRPr>
            </a:pPr>
            <a:r>
              <a:rPr sz="1725" b="0" i="0">
                <a:solidFill>
                  <a:srgbClr val="506079"/>
                </a:solidFill>
                <a:latin typeface="Segoe UI"/>
                <a:ea typeface="Segoe UI"/>
                <a:cs typeface="Segoe UI"/>
              </a:rPr>
              <a:t>Khi cookie hoặc thiết bị đã mở bị chiếm, máy chủ vẫn nhìn thấy một phiên hợp lệ. Hệ thống cần thêm bằng chứng cho thấy người đang thao tác có còn là chủ tài khoản hay không.</a:t>
            </a:r>
          </a:p>
        </p:txBody>
      </p:sp>
      <p:sp>
        <p:nvSpPr>
          <p:cNvPr id="6" name="">
            <a:extLst xmlns:a="http://schemas.openxmlformats.org/drawingml/2006/main">
              <a:ext uri="{FF2B5EF4-FFF2-40B4-BE49-F238E27FC236}">
                <a16:creationId xmlns:a16="http://schemas.microsoft.com/office/drawing/2014/main" id="{4CEB3A70-A814-422B-B5B3-D05F781ED413}"/>
              </a:ext>
            </a:extLst>
          </p:cNvPr>
          <p:cNvSpPr>
            <a:spLocks xmlns:a="http://schemas.openxmlformats.org/drawingml/2006/main" noGrp="1"/>
          </p:cNvSpPr>
          <p:nvPr/>
        </p:nvSpPr>
        <p:spPr>
          <a:xfrm xmlns:a="http://schemas.openxmlformats.org/drawingml/2006/main">
            <a:off x="685800" y="3476625"/>
            <a:ext cx="2476500" cy="1219200"/>
          </a:xfrm>
          <a:prstGeom xmlns:a="http://schemas.openxmlformats.org/drawingml/2006/main" prst="roundRect">
            <a:avLst>
              <a:gd name="adj" fmla="val 10938"/>
            </a:avLst>
          </a:prstGeom>
          <a:solidFill xmlns:a="http://schemas.openxmlformats.org/drawingml/2006/main">
            <a:srgbClr val="EEF4FC"/>
          </a:solidFill>
          <a:ln xmlns:a="http://schemas.openxmlformats.org/drawingml/2006/main" w="9525">
            <a:solidFill>
              <a:srgbClr val="D7E0EC"/>
            </a:solidFill>
            <a:prstDash val="solid"/>
          </a:ln>
        </p:spPr>
      </p:sp>
      <p:sp>
        <p:nvSpPr>
          <p:cNvPr id="7" name="">
            <a:extLst xmlns:a="http://schemas.openxmlformats.org/drawingml/2006/main">
              <a:ext uri="{FF2B5EF4-FFF2-40B4-BE49-F238E27FC236}">
                <a16:creationId xmlns:a16="http://schemas.microsoft.com/office/drawing/2014/main" id="{2639C658-AD89-45AD-AC46-28E1C2EE6285}"/>
              </a:ext>
            </a:extLst>
          </p:cNvPr>
          <p:cNvSpPr>
            <a:spLocks xmlns:a="http://schemas.openxmlformats.org/drawingml/2006/main" noGrp="1"/>
          </p:cNvSpPr>
          <p:nvPr/>
        </p:nvSpPr>
        <p:spPr>
          <a:xfrm xmlns:a="http://schemas.openxmlformats.org/drawingml/2006/main">
            <a:off x="4857750" y="3476625"/>
            <a:ext cx="2476500" cy="1219200"/>
          </a:xfrm>
          <a:prstGeom xmlns:a="http://schemas.openxmlformats.org/drawingml/2006/main" prst="roundRect">
            <a:avLst>
              <a:gd name="adj" fmla="val 10938"/>
            </a:avLst>
          </a:prstGeom>
          <a:solidFill xmlns:a="http://schemas.openxmlformats.org/drawingml/2006/main">
            <a:srgbClr val="EEF4FC"/>
          </a:solidFill>
          <a:ln xmlns:a="http://schemas.openxmlformats.org/drawingml/2006/main" w="9525">
            <a:solidFill>
              <a:srgbClr val="D7E0EC"/>
            </a:solidFill>
            <a:prstDash val="solid"/>
          </a:ln>
        </p:spPr>
      </p:sp>
      <p:sp>
        <p:nvSpPr>
          <p:cNvPr id="8" name="">
            <a:extLst xmlns:a="http://schemas.openxmlformats.org/drawingml/2006/main">
              <a:ext uri="{FF2B5EF4-FFF2-40B4-BE49-F238E27FC236}">
                <a16:creationId xmlns:a16="http://schemas.microsoft.com/office/drawing/2014/main" id="{29DD1CCB-BC14-415D-AFE0-1FAB8791CE27}"/>
              </a:ext>
            </a:extLst>
          </p:cNvPr>
          <p:cNvSpPr>
            <a:spLocks xmlns:a="http://schemas.openxmlformats.org/drawingml/2006/main" noGrp="1"/>
          </p:cNvSpPr>
          <p:nvPr/>
        </p:nvSpPr>
        <p:spPr>
          <a:xfrm xmlns:a="http://schemas.openxmlformats.org/drawingml/2006/main">
            <a:off x="9029700" y="3476625"/>
            <a:ext cx="2476500" cy="1219200"/>
          </a:xfrm>
          <a:prstGeom xmlns:a="http://schemas.openxmlformats.org/drawingml/2006/main" prst="roundRect">
            <a:avLst>
              <a:gd name="adj" fmla="val 10938"/>
            </a:avLst>
          </a:prstGeom>
          <a:solidFill xmlns:a="http://schemas.openxmlformats.org/drawingml/2006/main">
            <a:srgbClr val="EAF8F4"/>
          </a:solidFill>
          <a:ln xmlns:a="http://schemas.openxmlformats.org/drawingml/2006/main" w="9525">
            <a:solidFill>
              <a:srgbClr val="B7DED1"/>
            </a:solidFill>
            <a:prstDash val="solid"/>
          </a:ln>
        </p:spPr>
      </p:sp>
      <p:sp>
        <p:nvSpPr>
          <p:cNvPr id="9" name="">
            <a:extLst xmlns:a="http://schemas.openxmlformats.org/drawingml/2006/main">
              <a:ext uri="{FF2B5EF4-FFF2-40B4-BE49-F238E27FC236}">
                <a16:creationId xmlns:a16="http://schemas.microsoft.com/office/drawing/2014/main" id="{93DCA7D8-8276-4E47-8CE1-272EC95AADB4}"/>
              </a:ext>
            </a:extLst>
          </p:cNvPr>
          <p:cNvSpPr>
            <a:spLocks xmlns:a="http://schemas.openxmlformats.org/drawingml/2006/main" noGrp="1"/>
          </p:cNvSpPr>
          <p:nvPr/>
        </p:nvSpPr>
        <p:spPr>
          <a:xfrm xmlns:a="http://schemas.openxmlformats.org/drawingml/2006/main">
            <a:off x="876300" y="36766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316"/>
          </a:bodyPr>
          <a:lstStyle xmlns:a="http://schemas.openxmlformats.org/drawingml/2006/main"/>
          <a:p xmlns:a="http://schemas.openxmlformats.org/drawingml/2006/main">
            <a:pPr algn="l">
              <a:lnSpc>
                <a:spcPct val="108000"/>
              </a:lnSpc>
              <a:buNone/>
              <a:defRPr sz="1275" b="1" i="0">
                <a:solidFill>
                  <a:srgbClr val="2457C5"/>
                </a:solidFill>
                <a:latin typeface="Segoe UI"/>
                <a:ea typeface="Segoe UI"/>
                <a:cs typeface="Segoe UI"/>
              </a:defRPr>
            </a:pPr>
            <a:r>
              <a:rPr sz="1275" b="1" i="0">
                <a:solidFill>
                  <a:srgbClr val="2457C5"/>
                </a:solidFill>
                <a:latin typeface="Segoe UI"/>
                <a:ea typeface="Segoe UI"/>
                <a:cs typeface="Segoe UI"/>
              </a:rPr>
              <a:t>09:00</a:t>
            </a:r>
          </a:p>
        </p:txBody>
      </p:sp>
      <p:sp>
        <p:nvSpPr>
          <p:cNvPr id="10" name="">
            <a:extLst xmlns:a="http://schemas.openxmlformats.org/drawingml/2006/main">
              <a:ext uri="{FF2B5EF4-FFF2-40B4-BE49-F238E27FC236}">
                <a16:creationId xmlns:a16="http://schemas.microsoft.com/office/drawing/2014/main" id="{D2DF7A8C-10A5-405A-82E4-DE71F8D015F1}"/>
              </a:ext>
            </a:extLst>
          </p:cNvPr>
          <p:cNvSpPr>
            <a:spLocks xmlns:a="http://schemas.openxmlformats.org/drawingml/2006/main" noGrp="1"/>
          </p:cNvSpPr>
          <p:nvPr/>
        </p:nvSpPr>
        <p:spPr>
          <a:xfrm xmlns:a="http://schemas.openxmlformats.org/drawingml/2006/main">
            <a:off x="876300" y="40005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4702"/>
          </a:bodyPr>
          <a:lstStyle xmlns:a="http://schemas.openxmlformats.org/drawingml/2006/main"/>
          <a:p xmlns:a="http://schemas.openxmlformats.org/drawingml/2006/main">
            <a:pPr algn="l">
              <a:lnSpc>
                <a:spcPct val="108000"/>
              </a:lnSpc>
              <a:buNone/>
              <a:defRPr sz="1800" b="1" i="0">
                <a:solidFill>
                  <a:srgbClr val="142033"/>
                </a:solidFill>
                <a:latin typeface="Segoe UI"/>
                <a:ea typeface="Segoe UI"/>
                <a:cs typeface="Segoe UI"/>
              </a:defRPr>
            </a:pPr>
            <a:r>
              <a:rPr sz="1800" b="1" i="0">
                <a:solidFill>
                  <a:srgbClr val="142033"/>
                </a:solidFill>
                <a:latin typeface="Segoe UI"/>
                <a:ea typeface="Segoe UI"/>
                <a:cs typeface="Segoe UI"/>
              </a:rPr>
              <a:t>Người dùng qua MFA</a:t>
            </a:r>
          </a:p>
        </p:txBody>
      </p:sp>
      <p:sp>
        <p:nvSpPr>
          <p:cNvPr id="11" name="">
            <a:extLst xmlns:a="http://schemas.openxmlformats.org/drawingml/2006/main">
              <a:ext uri="{FF2B5EF4-FFF2-40B4-BE49-F238E27FC236}">
                <a16:creationId xmlns:a16="http://schemas.microsoft.com/office/drawing/2014/main" id="{366541A1-5A55-49F1-BE3B-06ED5B649A45}"/>
              </a:ext>
            </a:extLst>
          </p:cNvPr>
          <p:cNvSpPr>
            <a:spLocks xmlns:a="http://schemas.openxmlformats.org/drawingml/2006/main" noGrp="1"/>
          </p:cNvSpPr>
          <p:nvPr/>
        </p:nvSpPr>
        <p:spPr>
          <a:xfrm xmlns:a="http://schemas.openxmlformats.org/drawingml/2006/main">
            <a:off x="5048250" y="36766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316"/>
          </a:bodyPr>
          <a:lstStyle xmlns:a="http://schemas.openxmlformats.org/drawingml/2006/main"/>
          <a:p xmlns:a="http://schemas.openxmlformats.org/drawingml/2006/main">
            <a:pPr algn="l">
              <a:lnSpc>
                <a:spcPct val="108000"/>
              </a:lnSpc>
              <a:buNone/>
              <a:defRPr sz="1275" b="1" i="0">
                <a:solidFill>
                  <a:srgbClr val="B83C48"/>
                </a:solidFill>
                <a:latin typeface="Segoe UI"/>
                <a:ea typeface="Segoe UI"/>
                <a:cs typeface="Segoe UI"/>
              </a:defRPr>
            </a:pPr>
            <a:r>
              <a:rPr sz="1275" b="1" i="0">
                <a:solidFill>
                  <a:srgbClr val="B83C48"/>
                </a:solidFill>
                <a:latin typeface="Segoe UI"/>
                <a:ea typeface="Segoe UI"/>
                <a:cs typeface="Segoe UI"/>
              </a:rPr>
              <a:t>13:20</a:t>
            </a:r>
          </a:p>
        </p:txBody>
      </p:sp>
      <p:sp>
        <p:nvSpPr>
          <p:cNvPr id="12" name="">
            <a:extLst xmlns:a="http://schemas.openxmlformats.org/drawingml/2006/main">
              <a:ext uri="{FF2B5EF4-FFF2-40B4-BE49-F238E27FC236}">
                <a16:creationId xmlns:a16="http://schemas.microsoft.com/office/drawing/2014/main" id="{DA029A26-44CE-4BD8-AA7B-8F4E1570994A}"/>
              </a:ext>
            </a:extLst>
          </p:cNvPr>
          <p:cNvSpPr>
            <a:spLocks xmlns:a="http://schemas.openxmlformats.org/drawingml/2006/main" noGrp="1"/>
          </p:cNvSpPr>
          <p:nvPr/>
        </p:nvSpPr>
        <p:spPr>
          <a:xfrm xmlns:a="http://schemas.openxmlformats.org/drawingml/2006/main">
            <a:off x="5048250" y="4000500"/>
            <a:ext cx="204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77160"/>
          </a:bodyPr>
          <a:lstStyle xmlns:a="http://schemas.openxmlformats.org/drawingml/2006/main"/>
          <a:p xmlns:a="http://schemas.openxmlformats.org/drawingml/2006/main">
            <a:pPr algn="l">
              <a:lnSpc>
                <a:spcPct val="108000"/>
              </a:lnSpc>
              <a:buNone/>
              <a:defRPr sz="1800" b="1" i="0">
                <a:solidFill>
                  <a:srgbClr val="142033"/>
                </a:solidFill>
                <a:latin typeface="Segoe UI"/>
                <a:ea typeface="Segoe UI"/>
                <a:cs typeface="Segoe UI"/>
              </a:defRPr>
            </a:pPr>
            <a:r>
              <a:rPr sz="1800" b="1" i="0">
                <a:solidFill>
                  <a:srgbClr val="142033"/>
                </a:solidFill>
                <a:latin typeface="Segoe UI"/>
                <a:ea typeface="Segoe UI"/>
                <a:cs typeface="Segoe UI"/>
              </a:rPr>
              <a:t>Kẻ tấn công chiếm phiên</a:t>
            </a:r>
          </a:p>
        </p:txBody>
      </p:sp>
      <p:sp>
        <p:nvSpPr>
          <p:cNvPr id="13" name="">
            <a:extLst xmlns:a="http://schemas.openxmlformats.org/drawingml/2006/main">
              <a:ext uri="{FF2B5EF4-FFF2-40B4-BE49-F238E27FC236}">
                <a16:creationId xmlns:a16="http://schemas.microsoft.com/office/drawing/2014/main" id="{A4F81191-D2F6-4FD2-9B37-B1C41C93D01D}"/>
              </a:ext>
            </a:extLst>
          </p:cNvPr>
          <p:cNvSpPr>
            <a:spLocks xmlns:a="http://schemas.openxmlformats.org/drawingml/2006/main" noGrp="1"/>
          </p:cNvSpPr>
          <p:nvPr/>
        </p:nvSpPr>
        <p:spPr>
          <a:xfrm xmlns:a="http://schemas.openxmlformats.org/drawingml/2006/main">
            <a:off x="9220200" y="36766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5316"/>
          </a:bodyPr>
          <a:lstStyle xmlns:a="http://schemas.openxmlformats.org/drawingml/2006/main"/>
          <a:p xmlns:a="http://schemas.openxmlformats.org/drawingml/2006/main">
            <a:pPr algn="l">
              <a:lnSpc>
                <a:spcPct val="108000"/>
              </a:lnSpc>
              <a:buNone/>
              <a:defRPr sz="1275" b="1" i="0">
                <a:solidFill>
                  <a:srgbClr val="16845B"/>
                </a:solidFill>
                <a:latin typeface="Segoe UI"/>
                <a:ea typeface="Segoe UI"/>
                <a:cs typeface="Segoe UI"/>
              </a:defRPr>
            </a:pPr>
            <a:r>
              <a:rPr sz="1275" b="1" i="0">
                <a:solidFill>
                  <a:srgbClr val="16845B"/>
                </a:solidFill>
                <a:latin typeface="Segoe UI"/>
                <a:ea typeface="Segoe UI"/>
                <a:cs typeface="Segoe UI"/>
              </a:rPr>
              <a:t>13:21</a:t>
            </a:r>
          </a:p>
        </p:txBody>
      </p:sp>
      <p:sp>
        <p:nvSpPr>
          <p:cNvPr id="14" name="">
            <a:extLst xmlns:a="http://schemas.openxmlformats.org/drawingml/2006/main">
              <a:ext uri="{FF2B5EF4-FFF2-40B4-BE49-F238E27FC236}">
                <a16:creationId xmlns:a16="http://schemas.microsoft.com/office/drawing/2014/main" id="{DDD3A0A8-A9B4-41AB-B1AF-16A2EDA6AE8A}"/>
              </a:ext>
            </a:extLst>
          </p:cNvPr>
          <p:cNvSpPr>
            <a:spLocks xmlns:a="http://schemas.openxmlformats.org/drawingml/2006/main" noGrp="1"/>
          </p:cNvSpPr>
          <p:nvPr/>
        </p:nvSpPr>
        <p:spPr>
          <a:xfrm xmlns:a="http://schemas.openxmlformats.org/drawingml/2006/main">
            <a:off x="9220200" y="394335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1725" b="1" i="0">
                <a:solidFill>
                  <a:srgbClr val="142033"/>
                </a:solidFill>
                <a:latin typeface="Segoe UI"/>
                <a:ea typeface="Segoe UI"/>
                <a:cs typeface="Segoe UI"/>
              </a:defRPr>
            </a:pPr>
            <a:r>
              <a:rPr sz="1725" b="1" i="0">
                <a:solidFill>
                  <a:srgbClr val="142033"/>
                </a:solidFill>
                <a:latin typeface="Segoe UI"/>
                <a:ea typeface="Segoe UI"/>
                <a:cs typeface="Segoe UI"/>
              </a:rPr>
              <a:t>Hệ thống yêu cầu xác thực lại</a:t>
            </a:r>
          </a:p>
        </p:txBody>
      </p:sp>
      <p:cxnSp>
        <p:nvCxnSpPr>
          <p:cNvPr id="35" name=""/>
          <p:cNvCxnSpPr>
            <a:stCxn xmlns:a="http://schemas.openxmlformats.org/drawingml/2006/main" id="6" idx="3"/>
            <a:endCxn xmlns:a="http://schemas.openxmlformats.org/drawingml/2006/main" id="7" idx="1"/>
          </p:cNvCxnSpPr>
          <p:nvPr/>
        </p:nvCxnSpPr>
        <p:spPr>
          <a:xfrm xmlns:a="http://schemas.openxmlformats.org/drawingml/2006/main">
            <a:off x="3162300" y="4086225"/>
            <a:ext cx="1695450" cy="0"/>
          </a:xfrm>
          <a:prstGeom xmlns:a="http://schemas.openxmlformats.org/drawingml/2006/main" prst="straightConnector1">
            <a:avLst/>
          </a:prstGeom>
          <a:ln xmlns:a="http://schemas.openxmlformats.org/drawingml/2006/main" w="19050">
            <a:solidFill>
              <a:srgbClr val="506079"/>
            </a:solidFill>
            <a:prstDash val="solid"/>
            <a:tailEnd type="arrow" w="med" len="med"/>
          </a:ln>
        </p:spPr>
      </p:cxnSp>
      <p:cxnSp>
        <p:nvCxnSpPr>
          <p:cNvPr id="36" name=""/>
          <p:cNvCxnSpPr>
            <a:stCxn xmlns:a="http://schemas.openxmlformats.org/drawingml/2006/main" id="7" idx="3"/>
            <a:endCxn xmlns:a="http://schemas.openxmlformats.org/drawingml/2006/main" id="8" idx="1"/>
          </p:cNvCxnSpPr>
          <p:nvPr/>
        </p:nvCxnSpPr>
        <p:spPr>
          <a:xfrm xmlns:a="http://schemas.openxmlformats.org/drawingml/2006/main">
            <a:off x="7334250" y="4086225"/>
            <a:ext cx="1695450" cy="0"/>
          </a:xfrm>
          <a:prstGeom xmlns:a="http://schemas.openxmlformats.org/drawingml/2006/main" prst="straightConnector1">
            <a:avLst/>
          </a:prstGeom>
          <a:ln xmlns:a="http://schemas.openxmlformats.org/drawingml/2006/main" w="19050">
            <a:solidFill>
              <a:srgbClr val="506079"/>
            </a:solidFill>
            <a:prstDash val="solid"/>
            <a:tailEnd type="arrow" w="med" len="med"/>
          </a:ln>
        </p:spPr>
      </p:cxnSp>
      <p:sp>
        <p:nvSpPr>
          <p:cNvPr id="17" name="">
            <a:extLst xmlns:a="http://schemas.openxmlformats.org/drawingml/2006/main">
              <a:ext uri="{FF2B5EF4-FFF2-40B4-BE49-F238E27FC236}">
                <a16:creationId xmlns:a16="http://schemas.microsoft.com/office/drawing/2014/main" id="{6E338AE8-2C0C-4AD3-B4DD-9DDE2C136E9A}"/>
              </a:ext>
            </a:extLst>
          </p:cNvPr>
          <p:cNvSpPr>
            <a:spLocks xmlns:a="http://schemas.openxmlformats.org/drawingml/2006/main" noGrp="1"/>
          </p:cNvSpPr>
          <p:nvPr/>
        </p:nvSpPr>
        <p:spPr>
          <a:xfrm xmlns:a="http://schemas.openxmlformats.org/drawingml/2006/main">
            <a:off x="685800" y="5257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275" b="1" i="0">
                <a:solidFill>
                  <a:srgbClr val="2457C5"/>
                </a:solidFill>
                <a:latin typeface="Segoe UI"/>
                <a:ea typeface="Segoe UI"/>
                <a:cs typeface="Segoe UI"/>
              </a:defRPr>
            </a:pPr>
            <a:r>
              <a:rPr sz="1275" b="1" i="0">
                <a:solidFill>
                  <a:srgbClr val="2457C5"/>
                </a:solidFill>
                <a:latin typeface="Segoe UI"/>
                <a:ea typeface="Segoe UI"/>
                <a:cs typeface="Segoe UI"/>
              </a:rPr>
              <a:t>Câu hỏi trung tâm</a:t>
            </a:r>
          </a:p>
        </p:txBody>
      </p:sp>
      <p:sp>
        <p:nvSpPr>
          <p:cNvPr id="18" name="">
            <a:extLst xmlns:a="http://schemas.openxmlformats.org/drawingml/2006/main">
              <a:ext uri="{FF2B5EF4-FFF2-40B4-BE49-F238E27FC236}">
                <a16:creationId xmlns:a16="http://schemas.microsoft.com/office/drawing/2014/main" id="{5183671A-0F51-4730-8D71-01480B1745F9}"/>
              </a:ext>
            </a:extLst>
          </p:cNvPr>
          <p:cNvSpPr>
            <a:spLocks xmlns:a="http://schemas.openxmlformats.org/drawingml/2006/main" noGrp="1"/>
          </p:cNvSpPr>
          <p:nvPr/>
        </p:nvSpPr>
        <p:spPr>
          <a:xfrm xmlns:a="http://schemas.openxmlformats.org/drawingml/2006/main">
            <a:off x="685800" y="560070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4828"/>
          </a:bodyPr>
          <a:lstStyle xmlns:a="http://schemas.openxmlformats.org/drawingml/2006/main"/>
          <a:p xmlns:a="http://schemas.openxmlformats.org/drawingml/2006/main">
            <a:pPr algn="l">
              <a:lnSpc>
                <a:spcPct val="108000"/>
              </a:lnSpc>
              <a:buNone/>
              <a:defRPr sz="2025" b="1" i="0">
                <a:solidFill>
                  <a:srgbClr val="102A56"/>
                </a:solidFill>
                <a:latin typeface="Segoe UI"/>
                <a:ea typeface="Segoe UI"/>
                <a:cs typeface="Segoe UI"/>
              </a:defRPr>
            </a:pPr>
            <a:r>
              <a:rPr sz="2025" b="1" i="0">
                <a:solidFill>
                  <a:srgbClr val="102A56"/>
                </a:solidFill>
                <a:latin typeface="Segoe UI"/>
                <a:ea typeface="Segoe UI"/>
                <a:cs typeface="Segoe UI"/>
              </a:rPr>
              <a:t>Làm sao phát hiện sớm việc đổi người, nhưng không liên tục làm phiền người dùng thật?</a:t>
            </a:r>
          </a:p>
        </p:txBody>
      </p:sp>
      <p:sp>
        <p:nvSpPr>
          <p:cNvPr id="19" name="">
            <a:extLst xmlns:a="http://schemas.openxmlformats.org/drawingml/2006/main">
              <a:ext uri="{FF2B5EF4-FFF2-40B4-BE49-F238E27FC236}">
                <a16:creationId xmlns:a16="http://schemas.microsoft.com/office/drawing/2014/main" id="{483BF4C4-DCAB-4C8E-8F7C-1A360A072CAD}"/>
              </a:ext>
            </a:extLst>
          </p:cNvPr>
          <p:cNvSpPr>
            <a:spLocks xmlns:a="http://schemas.openxmlformats.org/drawingml/2006/main" noGrp="1"/>
          </p:cNvSpPr>
          <p:nvPr/>
        </p:nvSpPr>
        <p:spPr>
          <a:xfrm xmlns:a="http://schemas.openxmlformats.org/drawingml/2006/main">
            <a:off x="628650" y="6496050"/>
            <a:ext cx="962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NIST SP 800-63B-4, mục Session Monitoring</a:t>
            </a:r>
          </a:p>
        </p:txBody>
      </p:sp>
      <p:sp>
        <p:nvSpPr>
          <p:cNvPr id="20" name="">
            <a:extLst xmlns:a="http://schemas.openxmlformats.org/drawingml/2006/main">
              <a:ext uri="{FF2B5EF4-FFF2-40B4-BE49-F238E27FC236}">
                <a16:creationId xmlns:a16="http://schemas.microsoft.com/office/drawing/2014/main" id="{E8C7F108-F34A-492B-9FC7-C22BD6A2EE5C}"/>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10306910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6B1AE8-E62A-4EC6-AB73-A609FA498499}"/>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Mô hình đe dọa và phạm vi</a:t>
            </a:r>
          </a:p>
        </p:txBody>
      </p:sp>
      <p:sp>
        <p:nvSpPr>
          <p:cNvPr id="2" name="">
            <a:extLst xmlns:a="http://schemas.openxmlformats.org/drawingml/2006/main">
              <a:ext uri="{FF2B5EF4-FFF2-40B4-BE49-F238E27FC236}">
                <a16:creationId xmlns:a16="http://schemas.microsoft.com/office/drawing/2014/main" id="{49B7FA19-D4F5-4DE9-97F4-80102B670BDB}"/>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541D8B6E-9661-4FE6-B34B-24CB66AFE284}"/>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03</a:t>
            </a:r>
          </a:p>
        </p:txBody>
      </p:sp>
      <p:sp>
        <p:nvSpPr>
          <p:cNvPr id="4" name="">
            <a:extLst xmlns:a="http://schemas.openxmlformats.org/drawingml/2006/main">
              <a:ext uri="{FF2B5EF4-FFF2-40B4-BE49-F238E27FC236}">
                <a16:creationId xmlns:a16="http://schemas.microsoft.com/office/drawing/2014/main" id="{76D6D76A-DAE7-4601-AFD2-A057FC3A49F0}"/>
              </a:ext>
            </a:extLst>
          </p:cNvPr>
          <p:cNvSpPr>
            <a:spLocks xmlns:a="http://schemas.openxmlformats.org/drawingml/2006/main" noGrp="1"/>
          </p:cNvSpPr>
          <p:nvPr/>
        </p:nvSpPr>
        <p:spPr>
          <a:xfrm xmlns:a="http://schemas.openxmlformats.org/drawingml/2006/main">
            <a:off x="666750" y="1257300"/>
            <a:ext cx="6667500" cy="4476750"/>
          </a:xfrm>
          <a:prstGeom xmlns:a="http://schemas.openxmlformats.org/drawingml/2006/main" prst="roundRect">
            <a:avLst>
              <a:gd name="adj" fmla="val 2128"/>
            </a:avLst>
          </a:prstGeom>
          <a:solidFill xmlns:a="http://schemas.openxmlformats.org/drawingml/2006/main">
            <a:srgbClr val="F7F9FC"/>
          </a:solidFill>
          <a:ln xmlns:a="http://schemas.openxmlformats.org/drawingml/2006/main" w="9525">
            <a:solidFill>
              <a:srgbClr val="D7E0EC"/>
            </a:solidFill>
            <a:prstDash val="solid"/>
          </a:ln>
        </p:spPr>
      </p:sp>
      <p:sp>
        <p:nvSpPr>
          <p:cNvPr id="5" name="">
            <a:extLst xmlns:a="http://schemas.openxmlformats.org/drawingml/2006/main">
              <a:ext uri="{FF2B5EF4-FFF2-40B4-BE49-F238E27FC236}">
                <a16:creationId xmlns:a16="http://schemas.microsoft.com/office/drawing/2014/main" id="{28290E77-DF5A-4A6E-946C-9631BFE52F40}"/>
              </a:ext>
            </a:extLst>
          </p:cNvPr>
          <p:cNvSpPr>
            <a:spLocks xmlns:a="http://schemas.openxmlformats.org/drawingml/2006/main" noGrp="1"/>
          </p:cNvSpPr>
          <p:nvPr/>
        </p:nvSpPr>
        <p:spPr>
          <a:xfrm xmlns:a="http://schemas.openxmlformats.org/drawingml/2006/main">
            <a:off x="895350" y="146685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Bốn kịch bản tấn công</a:t>
            </a:r>
          </a:p>
        </p:txBody>
      </p:sp>
      <p:sp>
        <p:nvSpPr>
          <p:cNvPr id="6" name="">
            <a:extLst xmlns:a="http://schemas.openxmlformats.org/drawingml/2006/main">
              <a:ext uri="{FF2B5EF4-FFF2-40B4-BE49-F238E27FC236}">
                <a16:creationId xmlns:a16="http://schemas.microsoft.com/office/drawing/2014/main" id="{69F1353E-E7E4-4C9E-BB2E-421C38DE66E2}"/>
              </a:ext>
            </a:extLst>
          </p:cNvPr>
          <p:cNvSpPr>
            <a:spLocks xmlns:a="http://schemas.openxmlformats.org/drawingml/2006/main" noGrp="1"/>
          </p:cNvSpPr>
          <p:nvPr/>
        </p:nvSpPr>
        <p:spPr>
          <a:xfrm xmlns:a="http://schemas.openxmlformats.org/drawingml/2006/main">
            <a:off x="895350" y="1981200"/>
            <a:ext cx="6096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39700">
              <a:lnSpc>
                <a:spcPct val="108000"/>
              </a:lnSpc>
              <a:spcAft>
                <a:spcPts val="850"/>
              </a:spcAft>
              <a:buNone/>
              <a:defRPr sz="1575">
                <a:solidFill>
                  <a:srgbClr val="142033"/>
                </a:solidFill>
                <a:latin typeface="Segoe UI"/>
                <a:ea typeface="Segoe UI"/>
                <a:cs typeface="Segoe UI"/>
              </a:defRPr>
            </a:pPr>
            <a:r>
              <a:rPr sz="1575" b="1">
                <a:solidFill>
                  <a:srgbClr val="142033"/>
                </a:solidFill>
                <a:latin typeface="Segoe UI"/>
                <a:ea typeface="Segoe UI"/>
                <a:cs typeface="Segoe UI"/>
              </a:rPr>
              <a:t>A1  Người lạ: </a:t>
            </a:r>
            <a:r>
              <a:rPr sz="1575">
                <a:solidFill>
                  <a:srgbClr val="142033"/>
                </a:solidFill>
                <a:latin typeface="Segoe UI"/>
                <a:ea typeface="Segoe UI"/>
                <a:cs typeface="Segoe UI"/>
              </a:rPr>
              <a:t>ngồi vào một phiên đang mở và gõ theo thói quen của họ.</a:t>
            </a:r>
          </a:p>
          <a:p xmlns:a="http://schemas.openxmlformats.org/drawingml/2006/main">
            <a:pPr marL="254000" indent="-139700">
              <a:lnSpc>
                <a:spcPct val="108000"/>
              </a:lnSpc>
              <a:spcAft>
                <a:spcPts val="850"/>
              </a:spcAft>
              <a:buNone/>
              <a:defRPr sz="1575">
                <a:solidFill>
                  <a:srgbClr val="142033"/>
                </a:solidFill>
                <a:latin typeface="Segoe UI"/>
                <a:ea typeface="Segoe UI"/>
                <a:cs typeface="Segoe UI"/>
              </a:defRPr>
            </a:pPr>
            <a:r>
              <a:rPr sz="1575" b="1">
                <a:solidFill>
                  <a:srgbClr val="142033"/>
                </a:solidFill>
                <a:latin typeface="Segoe UI"/>
                <a:ea typeface="Segoe UI"/>
                <a:cs typeface="Segoe UI"/>
              </a:rPr>
              <a:t>A2  Biết nội dung: </a:t>
            </a:r>
            <a:r>
              <a:rPr sz="1575">
                <a:solidFill>
                  <a:srgbClr val="142033"/>
                </a:solidFill>
                <a:latin typeface="Segoe UI"/>
                <a:ea typeface="Segoe UI"/>
                <a:cs typeface="Segoe UI"/>
              </a:rPr>
              <a:t>quan sát được nội dung cần nhập, nhưng không nắm được nhịp gõ.</a:t>
            </a:r>
          </a:p>
          <a:p xmlns:a="http://schemas.openxmlformats.org/drawingml/2006/main">
            <a:pPr marL="254000" indent="-139700">
              <a:lnSpc>
                <a:spcPct val="108000"/>
              </a:lnSpc>
              <a:spcAft>
                <a:spcPts val="850"/>
              </a:spcAft>
              <a:buNone/>
              <a:defRPr sz="1575">
                <a:solidFill>
                  <a:srgbClr val="142033"/>
                </a:solidFill>
                <a:latin typeface="Segoe UI"/>
                <a:ea typeface="Segoe UI"/>
                <a:cs typeface="Segoe UI"/>
              </a:defRPr>
            </a:pPr>
            <a:r>
              <a:rPr sz="1575" b="1">
                <a:solidFill>
                  <a:srgbClr val="142033"/>
                </a:solidFill>
                <a:latin typeface="Segoe UI"/>
                <a:ea typeface="Segoe UI"/>
                <a:cs typeface="Segoe UI"/>
              </a:rPr>
              <a:t>A3  Bắt chước: </a:t>
            </a:r>
            <a:r>
              <a:rPr sz="1575">
                <a:solidFill>
                  <a:srgbClr val="142033"/>
                </a:solidFill>
                <a:latin typeface="Segoe UI"/>
                <a:ea typeface="Segoe UI"/>
                <a:cs typeface="Segoe UI"/>
              </a:rPr>
              <a:t>có mẫu nhịp gõ và thời gian luyện trước khi tấn công.</a:t>
            </a:r>
          </a:p>
          <a:p xmlns:a="http://schemas.openxmlformats.org/drawingml/2006/main">
            <a:pPr marL="254000" indent="-139700">
              <a:lnSpc>
                <a:spcPct val="108000"/>
              </a:lnSpc>
              <a:spcAft>
                <a:spcPts val="850"/>
              </a:spcAft>
              <a:buNone/>
              <a:defRPr sz="1575">
                <a:solidFill>
                  <a:srgbClr val="142033"/>
                </a:solidFill>
                <a:latin typeface="Segoe UI"/>
                <a:ea typeface="Segoe UI"/>
                <a:cs typeface="Segoe UI"/>
              </a:defRPr>
            </a:pPr>
            <a:r>
              <a:rPr sz="1575" b="1">
                <a:solidFill>
                  <a:srgbClr val="142033"/>
                </a:solidFill>
                <a:latin typeface="Segoe UI"/>
                <a:ea typeface="Segoe UI"/>
                <a:cs typeface="Segoe UI"/>
              </a:rPr>
              <a:t>A4  Phát lại: </a:t>
            </a:r>
            <a:r>
              <a:rPr sz="1575">
                <a:solidFill>
                  <a:srgbClr val="142033"/>
                </a:solidFill>
                <a:latin typeface="Segoe UI"/>
                <a:ea typeface="Segoe UI"/>
                <a:cs typeface="Segoe UI"/>
              </a:rPr>
              <a:t>gửi lại gói dữ liệu nhịp gõ đã ghi. Hệ thống chặn bằng nonce và số thứ tự.</a:t>
            </a:r>
          </a:p>
        </p:txBody>
      </p:sp>
      <p:sp>
        <p:nvSpPr>
          <p:cNvPr id="7" name="">
            <a:extLst xmlns:a="http://schemas.openxmlformats.org/drawingml/2006/main">
              <a:ext uri="{FF2B5EF4-FFF2-40B4-BE49-F238E27FC236}">
                <a16:creationId xmlns:a16="http://schemas.microsoft.com/office/drawing/2014/main" id="{C422AED5-AF1A-4BAA-B5A0-15BF08973BA9}"/>
              </a:ext>
            </a:extLst>
          </p:cNvPr>
          <p:cNvSpPr>
            <a:spLocks xmlns:a="http://schemas.openxmlformats.org/drawingml/2006/main" noGrp="1"/>
          </p:cNvSpPr>
          <p:nvPr/>
        </p:nvSpPr>
        <p:spPr>
          <a:xfrm xmlns:a="http://schemas.openxmlformats.org/drawingml/2006/main">
            <a:off x="7753350" y="14287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7225"/>
          </a:bodyPr>
          <a:lstStyle xmlns:a="http://schemas.openxmlformats.org/drawingml/2006/main"/>
          <a:p xmlns:a="http://schemas.openxmlformats.org/drawingml/2006/main">
            <a:pPr algn="l">
              <a:lnSpc>
                <a:spcPct val="108000"/>
              </a:lnSpc>
              <a:buNone/>
              <a:defRPr sz="1725" b="1" i="0">
                <a:solidFill>
                  <a:srgbClr val="102A56"/>
                </a:solidFill>
                <a:latin typeface="Segoe UI"/>
                <a:ea typeface="Segoe UI"/>
                <a:cs typeface="Segoe UI"/>
              </a:defRPr>
            </a:pPr>
            <a:r>
              <a:rPr sz="1725" b="1" i="0">
                <a:solidFill>
                  <a:srgbClr val="102A56"/>
                </a:solidFill>
                <a:latin typeface="Segoe UI"/>
                <a:ea typeface="Segoe UI"/>
                <a:cs typeface="Segoe UI"/>
              </a:rPr>
              <a:t>Giả định</a:t>
            </a:r>
          </a:p>
        </p:txBody>
      </p:sp>
      <p:sp>
        <p:nvSpPr>
          <p:cNvPr id="8" name="">
            <a:extLst xmlns:a="http://schemas.openxmlformats.org/drawingml/2006/main">
              <a:ext uri="{FF2B5EF4-FFF2-40B4-BE49-F238E27FC236}">
                <a16:creationId xmlns:a16="http://schemas.microsoft.com/office/drawing/2014/main" id="{6724E35A-C480-4B79-A859-ADDB68ACB14D}"/>
              </a:ext>
            </a:extLst>
          </p:cNvPr>
          <p:cNvSpPr>
            <a:spLocks xmlns:a="http://schemas.openxmlformats.org/drawingml/2006/main" noGrp="1"/>
          </p:cNvSpPr>
          <p:nvPr/>
        </p:nvSpPr>
        <p:spPr>
          <a:xfrm xmlns:a="http://schemas.openxmlformats.org/drawingml/2006/main">
            <a:off x="7715250" y="1866900"/>
            <a:ext cx="3524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39700">
              <a:lnSpc>
                <a:spcPct val="106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Kẻ tấn công có cookie hợp lệ.</a:t>
            </a:r>
          </a:p>
          <a:p xmlns:a="http://schemas.openxmlformats.org/drawingml/2006/main">
            <a:pPr marL="254000" indent="-139700">
              <a:lnSpc>
                <a:spcPct val="106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Máy khách gửi được thời điểm keydown và keyup.</a:t>
            </a:r>
          </a:p>
          <a:p xmlns:a="http://schemas.openxmlformats.org/drawingml/2006/main">
            <a:pPr marL="254000" indent="-139700">
              <a:lnSpc>
                <a:spcPct val="106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Máy chủ và kênh truyền chưa bị chiếm.</a:t>
            </a:r>
          </a:p>
        </p:txBody>
      </p:sp>
      <p:sp>
        <p:nvSpPr>
          <p:cNvPr id="9" name="">
            <a:extLst xmlns:a="http://schemas.openxmlformats.org/drawingml/2006/main">
              <a:ext uri="{FF2B5EF4-FFF2-40B4-BE49-F238E27FC236}">
                <a16:creationId xmlns:a16="http://schemas.microsoft.com/office/drawing/2014/main" id="{CD03B23C-6557-4A7A-9D8C-6C5A91F473FC}"/>
              </a:ext>
            </a:extLst>
          </p:cNvPr>
          <p:cNvSpPr>
            <a:spLocks xmlns:a="http://schemas.openxmlformats.org/drawingml/2006/main" noGrp="1"/>
          </p:cNvSpPr>
          <p:nvPr/>
        </p:nvSpPr>
        <p:spPr>
          <a:xfrm xmlns:a="http://schemas.openxmlformats.org/drawingml/2006/main">
            <a:off x="7753350" y="37338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7225"/>
          </a:bodyPr>
          <a:lstStyle xmlns:a="http://schemas.openxmlformats.org/drawingml/2006/main"/>
          <a:p xmlns:a="http://schemas.openxmlformats.org/drawingml/2006/main">
            <a:pPr algn="l">
              <a:lnSpc>
                <a:spcPct val="108000"/>
              </a:lnSpc>
              <a:buNone/>
              <a:defRPr sz="1725" b="1" i="0">
                <a:solidFill>
                  <a:srgbClr val="102A56"/>
                </a:solidFill>
                <a:latin typeface="Segoe UI"/>
                <a:ea typeface="Segoe UI"/>
                <a:cs typeface="Segoe UI"/>
              </a:defRPr>
            </a:pPr>
            <a:r>
              <a:rPr sz="1725" b="1" i="0">
                <a:solidFill>
                  <a:srgbClr val="102A56"/>
                </a:solidFill>
                <a:latin typeface="Segoe UI"/>
                <a:ea typeface="Segoe UI"/>
                <a:cs typeface="Segoe UI"/>
              </a:rPr>
              <a:t>Không tuyên bố</a:t>
            </a:r>
          </a:p>
        </p:txBody>
      </p:sp>
      <p:sp>
        <p:nvSpPr>
          <p:cNvPr id="10" name="">
            <a:extLst xmlns:a="http://schemas.openxmlformats.org/drawingml/2006/main">
              <a:ext uri="{FF2B5EF4-FFF2-40B4-BE49-F238E27FC236}">
                <a16:creationId xmlns:a16="http://schemas.microsoft.com/office/drawing/2014/main" id="{01C35281-B7AF-4C07-956F-5E9353C0D928}"/>
              </a:ext>
            </a:extLst>
          </p:cNvPr>
          <p:cNvSpPr>
            <a:spLocks xmlns:a="http://schemas.openxmlformats.org/drawingml/2006/main" noGrp="1"/>
          </p:cNvSpPr>
          <p:nvPr/>
        </p:nvSpPr>
        <p:spPr>
          <a:xfrm xmlns:a="http://schemas.openxmlformats.org/drawingml/2006/main">
            <a:off x="7715250" y="4171950"/>
            <a:ext cx="352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6960"/>
          </a:bodyPr>
          <a:lstStyle xmlns:a="http://schemas.openxmlformats.org/drawingml/2006/main"/>
          <a:p xmlns:a="http://schemas.openxmlformats.org/drawingml/2006/main">
            <a:pPr marL="254000" indent="-139700">
              <a:lnSpc>
                <a:spcPct val="106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Nhịp gõ thay thế mật khẩu hoặc MFA.</a:t>
            </a:r>
          </a:p>
          <a:p xmlns:a="http://schemas.openxmlformats.org/drawingml/2006/main">
            <a:pPr marL="254000" indent="-139700">
              <a:lnSpc>
                <a:spcPct val="106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Mô hình nhận diện đúng mọi người dùng.</a:t>
            </a:r>
          </a:p>
          <a:p xmlns:a="http://schemas.openxmlformats.org/drawingml/2006/main">
            <a:pPr marL="254000" indent="-139700">
              <a:lnSpc>
                <a:spcPct val="106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Hệ thống chống được endpoint đã bị kiểm soát hoàn toàn.</a:t>
            </a:r>
          </a:p>
        </p:txBody>
      </p:sp>
      <p:sp>
        <p:nvSpPr>
          <p:cNvPr id="11" name="">
            <a:extLst xmlns:a="http://schemas.openxmlformats.org/drawingml/2006/main">
              <a:ext uri="{FF2B5EF4-FFF2-40B4-BE49-F238E27FC236}">
                <a16:creationId xmlns:a16="http://schemas.microsoft.com/office/drawing/2014/main" id="{9E1653B6-1C8E-4680-A8A0-0668A3AA1FE4}"/>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409741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49CE10-1696-4E76-B27B-1AD5CB7CB335}"/>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Những kết quả đã có và phần còn thiếu</a:t>
            </a:r>
          </a:p>
        </p:txBody>
      </p:sp>
      <p:sp>
        <p:nvSpPr>
          <p:cNvPr id="2" name="">
            <a:extLst xmlns:a="http://schemas.openxmlformats.org/drawingml/2006/main">
              <a:ext uri="{FF2B5EF4-FFF2-40B4-BE49-F238E27FC236}">
                <a16:creationId xmlns:a16="http://schemas.microsoft.com/office/drawing/2014/main" id="{A0614DF2-18A6-489A-B25F-1086547667F0}"/>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27537265-6BA4-46FE-AA81-CF9BA614B7E8}"/>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04</a:t>
            </a:r>
          </a:p>
        </p:txBody>
      </p:sp>
      <p:graphicFrame>
        <p:nvGraphicFramePr>
          <p:cNvPr id="11" name=""/>
          <p:cNvGraphicFramePr/>
          <p:nvPr/>
        </p:nvGraphicFramePr>
        <p:xfrm>
          <a:off xmlns:a="http://schemas.openxmlformats.org/drawingml/2006/main" x="666750" y="1257300"/>
          <a:ext xmlns:a="http://schemas.openxmlformats.org/drawingml/2006/main" cx="10858500" cy="4000500"/>
        </p:xfrm>
        <a:graphic xmlns:a="http://schemas.openxmlformats.org/drawingml/2006/main">
          <a:graphicData uri="http://schemas.openxmlformats.org/drawingml/2006/table">
            <a:tbl>
              <a:tblPr/>
              <a:tblGrid>
                <a:gridCol w="2476500"/>
                <a:gridCol w="4095750"/>
                <a:gridCol w="4286250"/>
              </a:tblGrid>
              <a:tr h="666750">
                <a:tc>
                  <a:txBody>
                    <a:bodyPr/>
                    <a:lstStyle/>
                    <a:p>
                      <a:r>
                        <a:t>Công trình</a:t>
                      </a:r>
                    </a:p>
                  </a:txBody>
                  <a:tcPr marL="91440" marR="91440" marT="45720" marB="45720"/>
                </a:tc>
                <a:tc>
                  <a:txBody>
                    <a:bodyPr/>
                    <a:lstStyle/>
                    <a:p>
                      <a:r>
                        <a:t>Kết quả có thể kế thừa</a:t>
                      </a:r>
                    </a:p>
                  </a:txBody>
                  <a:tcPr marL="91440" marR="91440" marT="45720" marB="45720"/>
                </a:tc>
                <a:tc>
                  <a:txBody>
                    <a:bodyPr/>
                    <a:lstStyle/>
                    <a:p>
                      <a:r>
                        <a:t>Phần đề tài sẽ kiểm chứng</a:t>
                      </a:r>
                    </a:p>
                  </a:txBody>
                  <a:tcPr marL="91440" marR="91440" marT="45720" marB="45720"/>
                </a:tc>
              </a:tr>
              <a:tr h="666750">
                <a:tc>
                  <a:txBody>
                    <a:bodyPr/>
                    <a:lstStyle/>
                    <a:p>
                      <a:r>
                        <a:t>Gunetti &amp; Picardi (2005)</a:t>
                      </a:r>
                    </a:p>
                  </a:txBody>
                  <a:tcPr marL="91440" marR="91440" marT="45720" marB="45720"/>
                </a:tc>
                <a:tc>
                  <a:txBody>
                    <a:bodyPr/>
                    <a:lstStyle/>
                    <a:p>
                      <a:r>
                        <a:t>Nhịp gõ có thể phân tích trên văn bản tự do.</a:t>
                      </a:r>
                    </a:p>
                  </a:txBody>
                  <a:tcPr marL="91440" marR="91440" marT="45720" marB="45720"/>
                </a:tc>
                <a:tc>
                  <a:txBody>
                    <a:bodyPr/>
                    <a:lstStyle/>
                    <a:p>
                      <a:r>
                        <a:t>Ra quyết định trong một phiên dài.</a:t>
                      </a:r>
                    </a:p>
                  </a:txBody>
                  <a:tcPr marL="91440" marR="91440" marT="45720" marB="45720"/>
                </a:tc>
              </a:tr>
              <a:tr h="666750">
                <a:tc>
                  <a:txBody>
                    <a:bodyPr/>
                    <a:lstStyle/>
                    <a:p>
                      <a:r>
                        <a:t>Killourhy &amp; Maxion (2009)</a:t>
                      </a:r>
                    </a:p>
                  </a:txBody>
                  <a:tcPr marL="91440" marR="91440" marT="45720" marB="45720"/>
                </a:tc>
                <a:tc>
                  <a:txBody>
                    <a:bodyPr/>
                    <a:lstStyle/>
                    <a:p>
                      <a:r>
                        <a:t>Cung cấp quy trình so sánh bộ phát hiện và EER.</a:t>
                      </a:r>
                    </a:p>
                  </a:txBody>
                  <a:tcPr marL="91440" marR="91440" marT="45720" marB="45720"/>
                </a:tc>
                <a:tc>
                  <a:txBody>
                    <a:bodyPr/>
                    <a:lstStyle/>
                    <a:p>
                      <a:r>
                        <a:t>Tách dữ liệu theo phiên và theo ngày.</a:t>
                      </a:r>
                    </a:p>
                  </a:txBody>
                  <a:tcPr marL="91440" marR="91440" marT="45720" marB="45720"/>
                </a:tc>
              </a:tr>
              <a:tr h="666750">
                <a:tc>
                  <a:txBody>
                    <a:bodyPr/>
                    <a:lstStyle/>
                    <a:p>
                      <a:r>
                        <a:t>Bours (2012)</a:t>
                      </a:r>
                    </a:p>
                  </a:txBody>
                  <a:tcPr marL="91440" marR="91440" marT="45720" marB="45720"/>
                </a:tc>
                <a:tc>
                  <a:txBody>
                    <a:bodyPr/>
                    <a:lstStyle/>
                    <a:p>
                      <a:r>
                        <a:t>Đề xuất cách đánh giá xác thực liên tục theo thời gian.</a:t>
                      </a:r>
                    </a:p>
                  </a:txBody>
                  <a:tcPr marL="91440" marR="91440" marT="45720" marB="45720"/>
                </a:tc>
                <a:tc>
                  <a:txBody>
                    <a:bodyPr/>
                    <a:lstStyle/>
                    <a:p>
                      <a:r>
                        <a:t>So sánh TTD với số lần xác thực lại.</a:t>
                      </a:r>
                    </a:p>
                  </a:txBody>
                  <a:tcPr marL="91440" marR="91440" marT="45720" marB="45720"/>
                </a:tc>
              </a:tr>
              <a:tr h="666750">
                <a:tc>
                  <a:txBody>
                    <a:bodyPr/>
                    <a:lstStyle/>
                    <a:p>
                      <a:r>
                        <a:t>Stefan et al. (2012)</a:t>
                      </a:r>
                    </a:p>
                  </a:txBody>
                  <a:tcPr marL="91440" marR="91440" marT="45720" marB="45720"/>
                </a:tc>
                <a:tc>
                  <a:txBody>
                    <a:bodyPr/>
                    <a:lstStyle/>
                    <a:p>
                      <a:r>
                        <a:t>Cho thấy cần đánh giá giả mạo tổng hợp.</a:t>
                      </a:r>
                    </a:p>
                  </a:txBody>
                  <a:tcPr marL="91440" marR="91440" marT="45720" marB="45720"/>
                </a:tc>
                <a:tc>
                  <a:txBody>
                    <a:bodyPr/>
                    <a:lstStyle/>
                    <a:p>
                      <a:r>
                        <a:t>Kiểm tra bắt chước và phát lại.</a:t>
                      </a:r>
                    </a:p>
                  </a:txBody>
                  <a:tcPr marL="91440" marR="91440" marT="45720" marB="45720"/>
                </a:tc>
              </a:tr>
              <a:tr h="666750">
                <a:tc>
                  <a:txBody>
                    <a:bodyPr/>
                    <a:lstStyle/>
                    <a:p>
                      <a:r>
                        <a:t>Pisani et al. (2019)</a:t>
                      </a:r>
                    </a:p>
                  </a:txBody>
                  <a:tcPr marL="91440" marR="91440" marT="45720" marB="45720"/>
                </a:tc>
                <a:tc>
                  <a:txBody>
                    <a:bodyPr/>
                    <a:lstStyle/>
                    <a:p>
                      <a:r>
                        <a:t>Tổng hợp cơ chế cập nhật mẫu sinh trắc.</a:t>
                      </a:r>
                    </a:p>
                  </a:txBody>
                  <a:tcPr marL="91440" marR="91440" marT="45720" marB="45720"/>
                </a:tc>
                <a:tc>
                  <a:txBody>
                    <a:bodyPr/>
                    <a:lstStyle/>
                    <a:p>
                      <a:r>
                        <a:t>Chỉ cập nhật sau khi MFA thành công.</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65357EAC-E85A-4B7A-ADE3-2EDA178CA0A5}"/>
              </a:ext>
            </a:extLst>
          </p:cNvPr>
          <p:cNvSpPr>
            <a:spLocks xmlns:a="http://schemas.openxmlformats.org/drawingml/2006/main" noGrp="1"/>
          </p:cNvSpPr>
          <p:nvPr/>
        </p:nvSpPr>
        <p:spPr>
          <a:xfrm xmlns:a="http://schemas.openxmlformats.org/drawingml/2006/main">
            <a:off x="685800" y="5524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350" b="1" i="0">
                <a:solidFill>
                  <a:srgbClr val="2457C5"/>
                </a:solidFill>
                <a:latin typeface="Segoe UI"/>
                <a:ea typeface="Segoe UI"/>
                <a:cs typeface="Segoe UI"/>
              </a:defRPr>
            </a:pPr>
            <a:r>
              <a:rPr sz="1350" b="1" i="0">
                <a:solidFill>
                  <a:srgbClr val="2457C5"/>
                </a:solidFill>
                <a:latin typeface="Segoe UI"/>
                <a:ea typeface="Segoe UI"/>
                <a:cs typeface="Segoe UI"/>
              </a:rPr>
              <a:t>Khoảng trống nghiên cứu</a:t>
            </a:r>
          </a:p>
        </p:txBody>
      </p:sp>
      <p:sp>
        <p:nvSpPr>
          <p:cNvPr id="6" name="">
            <a:extLst xmlns:a="http://schemas.openxmlformats.org/drawingml/2006/main">
              <a:ext uri="{FF2B5EF4-FFF2-40B4-BE49-F238E27FC236}">
                <a16:creationId xmlns:a16="http://schemas.microsoft.com/office/drawing/2014/main" id="{5357F3D4-7E46-4224-A499-EC98CD72C024}"/>
              </a:ext>
            </a:extLst>
          </p:cNvPr>
          <p:cNvSpPr>
            <a:spLocks xmlns:a="http://schemas.openxmlformats.org/drawingml/2006/main" noGrp="1"/>
          </p:cNvSpPr>
          <p:nvPr/>
        </p:nvSpPr>
        <p:spPr>
          <a:xfrm xmlns:a="http://schemas.openxmlformats.org/drawingml/2006/main">
            <a:off x="685800" y="58483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7682"/>
          </a:bodyPr>
          <a:lstStyle xmlns:a="http://schemas.openxmlformats.org/drawingml/2006/main"/>
          <a:p xmlns:a="http://schemas.openxmlformats.org/drawingml/2006/main">
            <a:pPr algn="l">
              <a:lnSpc>
                <a:spcPct val="108000"/>
              </a:lnSpc>
              <a:buNone/>
              <a:defRPr sz="1650" b="1" i="0">
                <a:solidFill>
                  <a:srgbClr val="142033"/>
                </a:solidFill>
                <a:latin typeface="Segoe UI"/>
                <a:ea typeface="Segoe UI"/>
                <a:cs typeface="Segoe UI"/>
              </a:defRPr>
            </a:pPr>
            <a:r>
              <a:rPr sz="1650" b="1" i="0">
                <a:solidFill>
                  <a:srgbClr val="142033"/>
                </a:solidFill>
                <a:latin typeface="Segoe UI"/>
                <a:ea typeface="Segoe UI"/>
                <a:cs typeface="Segoe UI"/>
              </a:rPr>
              <a:t>Chưa có đủ bằng chứng cho biết ngưỡng thay đổi theo từng người có giảm số lần xác thực lại hay không, khi giữ cùng thời gian phát hiện và có độ trôi giữa các ngày.</a:t>
            </a:r>
          </a:p>
        </p:txBody>
      </p:sp>
      <p:sp>
        <p:nvSpPr>
          <p:cNvPr id="7" name="">
            <a:extLst xmlns:a="http://schemas.openxmlformats.org/drawingml/2006/main">
              <a:ext uri="{FF2B5EF4-FFF2-40B4-BE49-F238E27FC236}">
                <a16:creationId xmlns:a16="http://schemas.microsoft.com/office/drawing/2014/main" id="{00B3A2DE-DBA0-4CC0-9AD6-F5E3EC3F7238}"/>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20512519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453F82-3318-4933-BAAF-4A82D850FCFA}"/>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Câu hỏi nghiên cứu và giả thuyết</a:t>
            </a:r>
          </a:p>
        </p:txBody>
      </p:sp>
      <p:sp>
        <p:nvSpPr>
          <p:cNvPr id="2" name="">
            <a:extLst xmlns:a="http://schemas.openxmlformats.org/drawingml/2006/main">
              <a:ext uri="{FF2B5EF4-FFF2-40B4-BE49-F238E27FC236}">
                <a16:creationId xmlns:a16="http://schemas.microsoft.com/office/drawing/2014/main" id="{3E66E226-A8A0-40D9-9FCD-5576A5122805}"/>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2DACD6DF-E2B4-4D70-945D-1FF39D8E6C09}"/>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05</a:t>
            </a:r>
          </a:p>
        </p:txBody>
      </p:sp>
      <p:graphicFrame>
        <p:nvGraphicFramePr>
          <p:cNvPr id="11" name=""/>
          <p:cNvGraphicFramePr/>
          <p:nvPr/>
        </p:nvGraphicFramePr>
        <p:xfrm>
          <a:off xmlns:a="http://schemas.openxmlformats.org/drawingml/2006/main" x="666750" y="1381125"/>
          <a:ext xmlns:a="http://schemas.openxmlformats.org/drawingml/2006/main" cx="10858500" cy="3810000"/>
        </p:xfrm>
        <a:graphic xmlns:a="http://schemas.openxmlformats.org/drawingml/2006/main">
          <a:graphicData uri="http://schemas.openxmlformats.org/drawingml/2006/table">
            <a:tbl>
              <a:tblPr/>
              <a:tblGrid>
                <a:gridCol w="952500"/>
                <a:gridCol w="5286375"/>
                <a:gridCol w="4619625"/>
              </a:tblGrid>
              <a:tr h="952500">
                <a:tc>
                  <a:txBody>
                    <a:bodyPr/>
                    <a:lstStyle/>
                    <a:p>
                      <a:r>
                        <a:t/>
                      </a:r>
                    </a:p>
                  </a:txBody>
                  <a:tcPr marL="91440" marR="91440" marT="45720" marB="45720"/>
                </a:tc>
                <a:tc>
                  <a:txBody>
                    <a:bodyPr/>
                    <a:lstStyle/>
                    <a:p>
                      <a:r>
                        <a:t>Câu hỏi</a:t>
                      </a:r>
                    </a:p>
                  </a:txBody>
                  <a:tcPr marL="91440" marR="91440" marT="45720" marB="45720"/>
                </a:tc>
                <a:tc>
                  <a:txBody>
                    <a:bodyPr/>
                    <a:lstStyle/>
                    <a:p>
                      <a:r>
                        <a:t>Giả thuyết cần kiểm chứng</a:t>
                      </a:r>
                    </a:p>
                  </a:txBody>
                  <a:tcPr marL="91440" marR="91440" marT="45720" marB="45720"/>
                </a:tc>
              </a:tr>
              <a:tr h="952500">
                <a:tc>
                  <a:txBody>
                    <a:bodyPr/>
                    <a:lstStyle/>
                    <a:p>
                      <a:r>
                        <a:t>RQ1</a:t>
                      </a:r>
                    </a:p>
                  </a:txBody>
                  <a:tcPr marL="91440" marR="91440" marT="45720" marB="45720"/>
                </a:tc>
                <a:tc>
                  <a:txBody>
                    <a:bodyPr/>
                    <a:lstStyle/>
                    <a:p>
                      <a:r>
                        <a:t>Khi giữ cùng trung vị thời gian phát hiện, ngưỡng thích ứng có giảm số lần xác thực lại mỗi giờ không?</a:t>
                      </a:r>
                    </a:p>
                  </a:txBody>
                  <a:tcPr marL="91440" marR="91440" marT="45720" marB="45720"/>
                </a:tc>
                <a:tc>
                  <a:txBody>
                    <a:bodyPr/>
                    <a:lstStyle/>
                    <a:p>
                      <a:r>
                        <a:t>H1: Số lần xác thực lại mỗi giờ thấp hơn ngưỡng cố định.</a:t>
                      </a:r>
                    </a:p>
                  </a:txBody>
                  <a:tcPr marL="91440" marR="91440" marT="45720" marB="45720"/>
                </a:tc>
              </a:tr>
              <a:tr h="952500">
                <a:tc>
                  <a:txBody>
                    <a:bodyPr/>
                    <a:lstStyle/>
                    <a:p>
                      <a:r>
                        <a:t>RQ2</a:t>
                      </a:r>
                    </a:p>
                  </a:txBody>
                  <a:tcPr marL="91440" marR="91440" marT="45720" marB="45720"/>
                </a:tc>
                <a:tc>
                  <a:txBody>
                    <a:bodyPr/>
                    <a:lstStyle/>
                    <a:p>
                      <a:r>
                        <a:t>Việc cộng dồn bằng chứng qua nhiều cửa sổ thay đổi phân bố thời gian phát hiện như thế nào?</a:t>
                      </a:r>
                    </a:p>
                  </a:txBody>
                  <a:tcPr marL="91440" marR="91440" marT="45720" marB="45720"/>
                </a:tc>
                <a:tc>
                  <a:txBody>
                    <a:bodyPr/>
                    <a:lstStyle/>
                    <a:p>
                      <a:r>
                        <a:t>H2: CUSUM có hệ số quên phát hiện nhanh hơn quyết định từng cửa sổ.</a:t>
                      </a:r>
                    </a:p>
                  </a:txBody>
                  <a:tcPr marL="91440" marR="91440" marT="45720" marB="45720"/>
                </a:tc>
              </a:tr>
              <a:tr h="952500">
                <a:tc>
                  <a:txBody>
                    <a:bodyPr/>
                    <a:lstStyle/>
                    <a:p>
                      <a:r>
                        <a:t>RQ3</a:t>
                      </a:r>
                    </a:p>
                  </a:txBody>
                  <a:tcPr marL="91440" marR="91440" marT="45720" marB="45720"/>
                </a:tc>
                <a:tc>
                  <a:txBody>
                    <a:bodyPr/>
                    <a:lstStyle/>
                    <a:p>
                      <a:r>
                        <a:t>Mẫu nhịp gõ thay đổi qua các ngày ra sao, và cập nhật sau MFA có giảm FRR mà không tăng FAR không?</a:t>
                      </a:r>
                    </a:p>
                  </a:txBody>
                  <a:tcPr marL="91440" marR="91440" marT="45720" marB="45720"/>
                </a:tc>
                <a:tc>
                  <a:txBody>
                    <a:bodyPr/>
                    <a:lstStyle/>
                    <a:p>
                      <a:r>
                        <a:t>H3: Cập nhật có kiểm soát giữ FRR thấp hơn hồ sơ tĩnh.</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AEABE5F9-8ED1-46AA-8A45-E95A37FAD872}"/>
              </a:ext>
            </a:extLst>
          </p:cNvPr>
          <p:cNvSpPr>
            <a:spLocks xmlns:a="http://schemas.openxmlformats.org/drawingml/2006/main" noGrp="1"/>
          </p:cNvSpPr>
          <p:nvPr/>
        </p:nvSpPr>
        <p:spPr>
          <a:xfrm xmlns:a="http://schemas.openxmlformats.org/drawingml/2006/main">
            <a:off x="685800" y="55626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350" b="1" i="0">
                <a:solidFill>
                  <a:srgbClr val="2457C5"/>
                </a:solidFill>
                <a:latin typeface="Segoe UI"/>
                <a:ea typeface="Segoe UI"/>
                <a:cs typeface="Segoe UI"/>
              </a:defRPr>
            </a:pPr>
            <a:r>
              <a:rPr sz="1350" b="1" i="0">
                <a:solidFill>
                  <a:srgbClr val="2457C5"/>
                </a:solidFill>
                <a:latin typeface="Segoe UI"/>
                <a:ea typeface="Segoe UI"/>
                <a:cs typeface="Segoe UI"/>
              </a:rPr>
              <a:t>Nguyên tắc kết luận</a:t>
            </a:r>
          </a:p>
        </p:txBody>
      </p:sp>
      <p:sp>
        <p:nvSpPr>
          <p:cNvPr id="6" name="">
            <a:extLst xmlns:a="http://schemas.openxmlformats.org/drawingml/2006/main">
              <a:ext uri="{FF2B5EF4-FFF2-40B4-BE49-F238E27FC236}">
                <a16:creationId xmlns:a16="http://schemas.microsoft.com/office/drawing/2014/main" id="{9FAA4388-F3D9-47E1-8DC8-4781B02AEC06}"/>
              </a:ext>
            </a:extLst>
          </p:cNvPr>
          <p:cNvSpPr>
            <a:spLocks xmlns:a="http://schemas.openxmlformats.org/drawingml/2006/main" noGrp="1"/>
          </p:cNvSpPr>
          <p:nvPr/>
        </p:nvSpPr>
        <p:spPr>
          <a:xfrm xmlns:a="http://schemas.openxmlformats.org/drawingml/2006/main">
            <a:off x="685800" y="58864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8183"/>
          </a:bodyPr>
          <a:lstStyle xmlns:a="http://schemas.openxmlformats.org/drawingml/2006/main"/>
          <a:p xmlns:a="http://schemas.openxmlformats.org/drawingml/2006/main">
            <a:pPr algn="l">
              <a:lnSpc>
                <a:spcPct val="108000"/>
              </a:lnSpc>
              <a:buNone/>
              <a:defRPr sz="1575" b="0" i="0">
                <a:solidFill>
                  <a:srgbClr val="142033"/>
                </a:solidFill>
                <a:latin typeface="Segoe UI"/>
                <a:ea typeface="Segoe UI"/>
                <a:cs typeface="Segoe UI"/>
              </a:defRPr>
            </a:pPr>
            <a:r>
              <a:rPr sz="1575" b="0" i="0">
                <a:solidFill>
                  <a:srgbClr val="142033"/>
                </a:solidFill>
                <a:latin typeface="Segoe UI"/>
                <a:ea typeface="Segoe UI"/>
                <a:cs typeface="Segoe UI"/>
              </a:rPr>
              <a:t>Nhóm sẽ báo cáo chênh lệch, khoảng tin cậy và các trường hợp thất bại. Các con số như 30% hoặc 100 phím chỉ là tiêu chí thành công, không phải kết quả đã biết.</a:t>
            </a:r>
          </a:p>
        </p:txBody>
      </p:sp>
      <p:sp>
        <p:nvSpPr>
          <p:cNvPr id="7" name="">
            <a:extLst xmlns:a="http://schemas.openxmlformats.org/drawingml/2006/main">
              <a:ext uri="{FF2B5EF4-FFF2-40B4-BE49-F238E27FC236}">
                <a16:creationId xmlns:a16="http://schemas.microsoft.com/office/drawing/2014/main" id="{D118F185-00F5-488F-B070-CC72F25B4FDC}"/>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5387887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64B73A9-A517-40CA-B343-13C6E47BFFBC}"/>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Từ sự kiện bàn phím đến điểm bất thường</a:t>
            </a:r>
          </a:p>
        </p:txBody>
      </p:sp>
      <p:sp>
        <p:nvSpPr>
          <p:cNvPr id="2" name="">
            <a:extLst xmlns:a="http://schemas.openxmlformats.org/drawingml/2006/main">
              <a:ext uri="{FF2B5EF4-FFF2-40B4-BE49-F238E27FC236}">
                <a16:creationId xmlns:a16="http://schemas.microsoft.com/office/drawing/2014/main" id="{A3F6E4F3-A3CC-469A-9B62-A841349DDB1B}"/>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6D9B9C63-365A-4BF6-A1CF-0B28C803395A}"/>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6F77B51C-7306-4E57-BB0C-B6C9737EEA06}"/>
              </a:ext>
            </a:extLst>
          </p:cNvPr>
          <p:cNvSpPr>
            <a:spLocks xmlns:a="http://schemas.openxmlformats.org/drawingml/2006/main" noGrp="1"/>
          </p:cNvSpPr>
          <p:nvPr/>
        </p:nvSpPr>
        <p:spPr>
          <a:xfrm xmlns:a="http://schemas.openxmlformats.org/drawingml/2006/main">
            <a:off x="685800" y="12573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6451"/>
          </a:bodyPr>
          <a:lstStyle xmlns:a="http://schemas.openxmlformats.org/drawingml/2006/main"/>
          <a:p xmlns:a="http://schemas.openxmlformats.org/drawingml/2006/main">
            <a:pPr algn="l">
              <a:lnSpc>
                <a:spcPct val="108000"/>
              </a:lnSpc>
              <a:buNone/>
              <a:defRPr sz="1800" b="1" i="0">
                <a:solidFill>
                  <a:srgbClr val="102A56"/>
                </a:solidFill>
                <a:latin typeface="Segoe UI"/>
                <a:ea typeface="Segoe UI"/>
                <a:cs typeface="Segoe UI"/>
              </a:defRPr>
            </a:pPr>
            <a:r>
              <a:rPr sz="1800" b="1" i="0">
                <a:solidFill>
                  <a:srgbClr val="102A56"/>
                </a:solidFill>
                <a:latin typeface="Segoe UI"/>
                <a:ea typeface="Segoe UI"/>
                <a:cs typeface="Segoe UI"/>
              </a:rPr>
              <a:t>Đặc trưng theo từng phím</a:t>
            </a:r>
          </a:p>
        </p:txBody>
      </p:sp>
      <p:sp>
        <p:nvSpPr>
          <p:cNvPr id="5" name="">
            <a:extLst xmlns:a="http://schemas.openxmlformats.org/drawingml/2006/main">
              <a:ext uri="{FF2B5EF4-FFF2-40B4-BE49-F238E27FC236}">
                <a16:creationId xmlns:a16="http://schemas.microsoft.com/office/drawing/2014/main" id="{F793CB8D-A04D-4322-BD7B-A005A906B74C}"/>
              </a:ext>
            </a:extLst>
          </p:cNvPr>
          <p:cNvSpPr>
            <a:spLocks xmlns:a="http://schemas.openxmlformats.org/drawingml/2006/main" noGrp="1"/>
          </p:cNvSpPr>
          <p:nvPr/>
        </p:nvSpPr>
        <p:spPr>
          <a:xfrm xmlns:a="http://schemas.openxmlformats.org/drawingml/2006/main">
            <a:off x="685800" y="1733550"/>
            <a:ext cx="4953000" cy="1733550"/>
          </a:xfrm>
          <a:prstGeom xmlns:a="http://schemas.openxmlformats.org/drawingml/2006/main" prst="roundRect">
            <a:avLst>
              <a:gd name="adj" fmla="val 5495"/>
            </a:avLst>
          </a:prstGeom>
          <a:solidFill xmlns:a="http://schemas.openxmlformats.org/drawingml/2006/main">
            <a:srgbClr val="F7F9FC"/>
          </a:solidFill>
          <a:ln xmlns:a="http://schemas.openxmlformats.org/drawingml/2006/main" w="9525">
            <a:solidFill>
              <a:srgbClr val="D7E0EC"/>
            </a:solidFill>
            <a:prstDash val="solid"/>
          </a:ln>
        </p:spPr>
      </p:sp>
      <p:sp>
        <p:nvSpPr>
          <p:cNvPr id="6" name="">
            <a:extLst xmlns:a="http://schemas.openxmlformats.org/drawingml/2006/main">
              <a:ext uri="{FF2B5EF4-FFF2-40B4-BE49-F238E27FC236}">
                <a16:creationId xmlns:a16="http://schemas.microsoft.com/office/drawing/2014/main" id="{EB368BCE-861A-47C7-8528-65657FEFE17F}"/>
              </a:ext>
            </a:extLst>
          </p:cNvPr>
          <p:cNvSpPr>
            <a:spLocks xmlns:a="http://schemas.openxmlformats.org/drawingml/2006/main" noGrp="1"/>
          </p:cNvSpPr>
          <p:nvPr/>
        </p:nvSpPr>
        <p:spPr>
          <a:xfrm xmlns:a="http://schemas.openxmlformats.org/drawingml/2006/main">
            <a:off x="1066800" y="19621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250" b="1" i="0">
                <a:solidFill>
                  <a:srgbClr val="142033"/>
                </a:solidFill>
                <a:latin typeface="Cambria Math"/>
                <a:ea typeface="Cambria Math"/>
                <a:cs typeface="Cambria Math"/>
              </a:defRPr>
            </a:pPr>
            <a:r>
              <a:rPr sz="2250" b="1" i="0">
                <a:solidFill>
                  <a:srgbClr val="142033"/>
                </a:solidFill>
                <a:latin typeface="Cambria Math"/>
                <a:ea typeface="Cambria Math"/>
                <a:cs typeface="Cambria Math"/>
              </a:rPr>
              <a:t>dᵢ = tᵢ⁽ᵘᵖ⁾ − tᵢ⁽ᵈᵒʷⁿ⁾</a:t>
            </a:r>
          </a:p>
        </p:txBody>
      </p:sp>
      <p:sp>
        <p:nvSpPr>
          <p:cNvPr id="7" name="">
            <a:extLst xmlns:a="http://schemas.openxmlformats.org/drawingml/2006/main">
              <a:ext uri="{FF2B5EF4-FFF2-40B4-BE49-F238E27FC236}">
                <a16:creationId xmlns:a16="http://schemas.microsoft.com/office/drawing/2014/main" id="{A8E2592F-8825-435D-BED3-6F3317D092B4}"/>
              </a:ext>
            </a:extLst>
          </p:cNvPr>
          <p:cNvSpPr>
            <a:spLocks xmlns:a="http://schemas.openxmlformats.org/drawingml/2006/main" noGrp="1"/>
          </p:cNvSpPr>
          <p:nvPr/>
        </p:nvSpPr>
        <p:spPr>
          <a:xfrm xmlns:a="http://schemas.openxmlformats.org/drawingml/2006/main">
            <a:off x="1066800" y="24574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4307"/>
          </a:bodyPr>
          <a:lstStyle xmlns:a="http://schemas.openxmlformats.org/drawingml/2006/main"/>
          <a:p xmlns:a="http://schemas.openxmlformats.org/drawingml/2006/main">
            <a:pPr algn="ctr">
              <a:lnSpc>
                <a:spcPct val="108000"/>
              </a:lnSpc>
              <a:buNone/>
              <a:defRPr sz="1350" b="0" i="0">
                <a:solidFill>
                  <a:srgbClr val="506079"/>
                </a:solidFill>
                <a:latin typeface="Segoe UI"/>
                <a:ea typeface="Segoe UI"/>
                <a:cs typeface="Segoe UI"/>
              </a:defRPr>
            </a:pPr>
            <a:r>
              <a:rPr sz="1350" b="0" i="0">
                <a:solidFill>
                  <a:srgbClr val="506079"/>
                </a:solidFill>
                <a:latin typeface="Segoe UI"/>
                <a:ea typeface="Segoe UI"/>
                <a:cs typeface="Segoe UI"/>
              </a:rPr>
              <a:t>Thời gian giữ phím</a:t>
            </a:r>
          </a:p>
        </p:txBody>
      </p:sp>
      <p:sp>
        <p:nvSpPr>
          <p:cNvPr id="8" name="">
            <a:extLst xmlns:a="http://schemas.openxmlformats.org/drawingml/2006/main">
              <a:ext uri="{FF2B5EF4-FFF2-40B4-BE49-F238E27FC236}">
                <a16:creationId xmlns:a16="http://schemas.microsoft.com/office/drawing/2014/main" id="{1F5166EB-53E8-4348-BB4C-0A14A754F84D}"/>
              </a:ext>
            </a:extLst>
          </p:cNvPr>
          <p:cNvSpPr>
            <a:spLocks xmlns:a="http://schemas.openxmlformats.org/drawingml/2006/main" noGrp="1"/>
          </p:cNvSpPr>
          <p:nvPr/>
        </p:nvSpPr>
        <p:spPr>
          <a:xfrm xmlns:a="http://schemas.openxmlformats.org/drawingml/2006/main">
            <a:off x="1066800" y="2876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100" b="1" i="0">
                <a:solidFill>
                  <a:srgbClr val="142033"/>
                </a:solidFill>
                <a:latin typeface="Cambria Math"/>
                <a:ea typeface="Cambria Math"/>
                <a:cs typeface="Cambria Math"/>
              </a:defRPr>
            </a:pPr>
            <a:r>
              <a:rPr sz="2100" b="1" i="0">
                <a:solidFill>
                  <a:srgbClr val="142033"/>
                </a:solidFill>
                <a:latin typeface="Cambria Math"/>
                <a:ea typeface="Cambria Math"/>
                <a:cs typeface="Cambria Math"/>
              </a:rPr>
              <a:t>fᵢᵁᴰ = tᵢ₊₁⁽ᵈᵒʷⁿ⁾ − tᵢ⁽ᵘᵖ⁾</a:t>
            </a:r>
          </a:p>
        </p:txBody>
      </p:sp>
      <p:sp>
        <p:nvSpPr>
          <p:cNvPr id="9" name="">
            <a:extLst xmlns:a="http://schemas.openxmlformats.org/drawingml/2006/main">
              <a:ext uri="{FF2B5EF4-FFF2-40B4-BE49-F238E27FC236}">
                <a16:creationId xmlns:a16="http://schemas.microsoft.com/office/drawing/2014/main" id="{B26694EF-784B-44FB-B2B7-F81437C80E05}"/>
              </a:ext>
            </a:extLst>
          </p:cNvPr>
          <p:cNvSpPr>
            <a:spLocks xmlns:a="http://schemas.openxmlformats.org/drawingml/2006/main" noGrp="1"/>
          </p:cNvSpPr>
          <p:nvPr/>
        </p:nvSpPr>
        <p:spPr>
          <a:xfrm xmlns:a="http://schemas.openxmlformats.org/drawingml/2006/main">
            <a:off x="1066800" y="32766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5734"/>
          </a:bodyPr>
          <a:lstStyle xmlns:a="http://schemas.openxmlformats.org/drawingml/2006/main"/>
          <a:p xmlns:a="http://schemas.openxmlformats.org/drawingml/2006/main">
            <a:pPr algn="ctr">
              <a:lnSpc>
                <a:spcPct val="108000"/>
              </a:lnSpc>
              <a:buNone/>
              <a:defRPr sz="1350" b="0" i="0">
                <a:solidFill>
                  <a:srgbClr val="506079"/>
                </a:solidFill>
                <a:latin typeface="Segoe UI"/>
                <a:ea typeface="Segoe UI"/>
                <a:cs typeface="Segoe UI"/>
              </a:defRPr>
            </a:pPr>
            <a:r>
              <a:rPr sz="1350" b="0" i="0">
                <a:solidFill>
                  <a:srgbClr val="506079"/>
                </a:solidFill>
                <a:latin typeface="Segoe UI"/>
                <a:ea typeface="Segoe UI"/>
                <a:cs typeface="Segoe UI"/>
              </a:rPr>
              <a:t>Khoảng nghỉ giữa hai phím</a:t>
            </a:r>
          </a:p>
        </p:txBody>
      </p:sp>
      <p:sp>
        <p:nvSpPr>
          <p:cNvPr id="10" name="">
            <a:extLst xmlns:a="http://schemas.openxmlformats.org/drawingml/2006/main">
              <a:ext uri="{FF2B5EF4-FFF2-40B4-BE49-F238E27FC236}">
                <a16:creationId xmlns:a16="http://schemas.microsoft.com/office/drawing/2014/main" id="{FC68DF76-AF96-4BF6-9A35-2530FD96A018}"/>
              </a:ext>
            </a:extLst>
          </p:cNvPr>
          <p:cNvSpPr>
            <a:spLocks xmlns:a="http://schemas.openxmlformats.org/drawingml/2006/main" noGrp="1"/>
          </p:cNvSpPr>
          <p:nvPr/>
        </p:nvSpPr>
        <p:spPr>
          <a:xfrm xmlns:a="http://schemas.openxmlformats.org/drawingml/2006/main">
            <a:off x="666750" y="38862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0021"/>
          </a:bodyPr>
          <a:lstStyle xmlns:a="http://schemas.openxmlformats.org/drawingml/2006/main"/>
          <a:p xmlns:a="http://schemas.openxmlformats.org/drawingml/2006/main">
            <a:pPr algn="l">
              <a:lnSpc>
                <a:spcPct val="108000"/>
              </a:lnSpc>
              <a:buNone/>
              <a:defRPr sz="1800" b="1" i="0">
                <a:solidFill>
                  <a:srgbClr val="102A56"/>
                </a:solidFill>
                <a:latin typeface="Segoe UI"/>
                <a:ea typeface="Segoe UI"/>
                <a:cs typeface="Segoe UI"/>
              </a:defRPr>
            </a:pPr>
            <a:r>
              <a:rPr sz="1800" b="1" i="0">
                <a:solidFill>
                  <a:srgbClr val="102A56"/>
                </a:solidFill>
                <a:latin typeface="Segoe UI"/>
                <a:ea typeface="Segoe UI"/>
                <a:cs typeface="Segoe UI"/>
              </a:rPr>
              <a:t>Cửa sổ quan sát</a:t>
            </a:r>
          </a:p>
        </p:txBody>
      </p:sp>
      <p:sp>
        <p:nvSpPr>
          <p:cNvPr id="11" name="">
            <a:extLst xmlns:a="http://schemas.openxmlformats.org/drawingml/2006/main">
              <a:ext uri="{FF2B5EF4-FFF2-40B4-BE49-F238E27FC236}">
                <a16:creationId xmlns:a16="http://schemas.microsoft.com/office/drawing/2014/main" id="{BE3BB084-0ADF-4F42-9212-031D51B05574}"/>
              </a:ext>
            </a:extLst>
          </p:cNvPr>
          <p:cNvSpPr>
            <a:spLocks xmlns:a="http://schemas.openxmlformats.org/drawingml/2006/main" noGrp="1"/>
          </p:cNvSpPr>
          <p:nvPr/>
        </p:nvSpPr>
        <p:spPr>
          <a:xfrm xmlns:a="http://schemas.openxmlformats.org/drawingml/2006/main">
            <a:off x="685800" y="428625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3000"/>
              </a:lnSpc>
              <a:buNone/>
              <a:defRPr sz="1650" b="0" i="0">
                <a:solidFill>
                  <a:srgbClr val="506079"/>
                </a:solidFill>
                <a:latin typeface="Segoe UI"/>
                <a:ea typeface="Segoe UI"/>
                <a:cs typeface="Segoe UI"/>
              </a:defRPr>
            </a:pPr>
            <a:r>
              <a:rPr sz="1650" b="0" i="0">
                <a:solidFill>
                  <a:srgbClr val="506079"/>
                </a:solidFill>
                <a:latin typeface="Segoe UI"/>
                <a:ea typeface="Segoe UI"/>
                <a:cs typeface="Segoe UI"/>
              </a:rPr>
              <a:t>Mỗi cửa sổ gồm 20, 50 hoặc 100 phím. Dãy đặc trưng xₜ gồm thời gian giữ phím, khoảng nghỉ, tốc độ, phím Backspace và độ biến động.</a:t>
            </a:r>
          </a:p>
        </p:txBody>
      </p:sp>
      <p:sp>
        <p:nvSpPr>
          <p:cNvPr id="12" name="">
            <a:extLst xmlns:a="http://schemas.openxmlformats.org/drawingml/2006/main">
              <a:ext uri="{FF2B5EF4-FFF2-40B4-BE49-F238E27FC236}">
                <a16:creationId xmlns:a16="http://schemas.microsoft.com/office/drawing/2014/main" id="{2D8FBB45-552A-4713-A902-78BCA9F9AC24}"/>
              </a:ext>
            </a:extLst>
          </p:cNvPr>
          <p:cNvSpPr>
            <a:spLocks xmlns:a="http://schemas.openxmlformats.org/drawingml/2006/main" noGrp="1"/>
          </p:cNvSpPr>
          <p:nvPr/>
        </p:nvSpPr>
        <p:spPr>
          <a:xfrm xmlns:a="http://schemas.openxmlformats.org/drawingml/2006/main">
            <a:off x="6191250" y="1257300"/>
            <a:ext cx="5334000" cy="4095750"/>
          </a:xfrm>
          <a:prstGeom xmlns:a="http://schemas.openxmlformats.org/drawingml/2006/main" prst="roundRect">
            <a:avLst>
              <a:gd name="adj" fmla="val 2326"/>
            </a:avLst>
          </a:prstGeom>
          <a:solidFill xmlns:a="http://schemas.openxmlformats.org/drawingml/2006/main">
            <a:srgbClr val="EEF4FC"/>
          </a:solidFill>
          <a:ln xmlns:a="http://schemas.openxmlformats.org/drawingml/2006/main" w="9525">
            <a:solidFill>
              <a:srgbClr val="D7E0EC"/>
            </a:solidFill>
            <a:prstDash val="solid"/>
          </a:ln>
        </p:spPr>
      </p:sp>
      <p:sp>
        <p:nvSpPr>
          <p:cNvPr id="13" name="">
            <a:extLst xmlns:a="http://schemas.openxmlformats.org/drawingml/2006/main">
              <a:ext uri="{FF2B5EF4-FFF2-40B4-BE49-F238E27FC236}">
                <a16:creationId xmlns:a16="http://schemas.microsoft.com/office/drawing/2014/main" id="{A755DB57-251B-4C8E-8ADB-D292A67687B5}"/>
              </a:ext>
            </a:extLst>
          </p:cNvPr>
          <p:cNvSpPr>
            <a:spLocks xmlns:a="http://schemas.openxmlformats.org/drawingml/2006/main" noGrp="1"/>
          </p:cNvSpPr>
          <p:nvPr/>
        </p:nvSpPr>
        <p:spPr>
          <a:xfrm xmlns:a="http://schemas.openxmlformats.org/drawingml/2006/main">
            <a:off x="6477000" y="15049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765"/>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Mô hình riêng cho từng người</a:t>
            </a:r>
          </a:p>
        </p:txBody>
      </p:sp>
      <p:sp>
        <p:nvSpPr>
          <p:cNvPr id="14" name="">
            <a:extLst xmlns:a="http://schemas.openxmlformats.org/drawingml/2006/main">
              <a:ext uri="{FF2B5EF4-FFF2-40B4-BE49-F238E27FC236}">
                <a16:creationId xmlns:a16="http://schemas.microsoft.com/office/drawing/2014/main" id="{FE2781E5-7EF0-4277-9591-82BA87AD2DD0}"/>
              </a:ext>
            </a:extLst>
          </p:cNvPr>
          <p:cNvSpPr>
            <a:spLocks xmlns:a="http://schemas.openxmlformats.org/drawingml/2006/main" noGrp="1"/>
          </p:cNvSpPr>
          <p:nvPr/>
        </p:nvSpPr>
        <p:spPr>
          <a:xfrm xmlns:a="http://schemas.openxmlformats.org/drawingml/2006/main">
            <a:off x="6477000" y="2057400"/>
            <a:ext cx="4714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9866"/>
          </a:bodyPr>
          <a:lstStyle xmlns:a="http://schemas.openxmlformats.org/drawingml/2006/main"/>
          <a:p xmlns:a="http://schemas.openxmlformats.org/drawingml/2006/main">
            <a:pPr algn="l">
              <a:lnSpc>
                <a:spcPct val="112000"/>
              </a:lnSpc>
              <a:buNone/>
              <a:defRPr sz="1650" b="0" i="0">
                <a:solidFill>
                  <a:srgbClr val="142033"/>
                </a:solidFill>
                <a:latin typeface="Segoe UI"/>
                <a:ea typeface="Segoe UI"/>
                <a:cs typeface="Segoe UI"/>
              </a:defRPr>
            </a:pPr>
            <a:r>
              <a:rPr sz="1650" b="0" i="0">
                <a:solidFill>
                  <a:srgbClr val="142033"/>
                </a:solidFill>
                <a:latin typeface="Segoe UI"/>
                <a:ea typeface="Segoe UI"/>
                <a:cs typeface="Segoe UI"/>
              </a:rPr>
              <a:t>Isolation Forest hoặc One-Class SVM học từ các cửa sổ của chính chủ và trả về điểm bất thường aₜ.</a:t>
            </a:r>
          </a:p>
        </p:txBody>
      </p:sp>
      <p:sp>
        <p:nvSpPr>
          <p:cNvPr id="15" name="">
            <a:extLst xmlns:a="http://schemas.openxmlformats.org/drawingml/2006/main">
              <a:ext uri="{FF2B5EF4-FFF2-40B4-BE49-F238E27FC236}">
                <a16:creationId xmlns:a16="http://schemas.microsoft.com/office/drawing/2014/main" id="{035B4F0E-9729-437C-8D62-42CCF0945B16}"/>
              </a:ext>
            </a:extLst>
          </p:cNvPr>
          <p:cNvSpPr>
            <a:spLocks xmlns:a="http://schemas.openxmlformats.org/drawingml/2006/main" noGrp="1"/>
          </p:cNvSpPr>
          <p:nvPr/>
        </p:nvSpPr>
        <p:spPr>
          <a:xfrm xmlns:a="http://schemas.openxmlformats.org/drawingml/2006/main">
            <a:off x="6477000" y="3162300"/>
            <a:ext cx="471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9326"/>
          </a:bodyPr>
          <a:lstStyle xmlns:a="http://schemas.openxmlformats.org/drawingml/2006/main"/>
          <a:p xmlns:a="http://schemas.openxmlformats.org/drawingml/2006/main">
            <a:pPr algn="ctr">
              <a:lnSpc>
                <a:spcPct val="108000"/>
              </a:lnSpc>
              <a:buNone/>
              <a:defRPr sz="1875" b="1" i="0">
                <a:solidFill>
                  <a:srgbClr val="2457C5"/>
                </a:solidFill>
                <a:latin typeface="Cambria Math"/>
                <a:ea typeface="Cambria Math"/>
                <a:cs typeface="Cambria Math"/>
              </a:defRPr>
            </a:pPr>
            <a:r>
              <a:rPr sz="1875" b="1" i="0">
                <a:solidFill>
                  <a:srgbClr val="2457C5"/>
                </a:solidFill>
                <a:latin typeface="Cambria Math"/>
                <a:ea typeface="Cambria Math"/>
                <a:cs typeface="Cambria Math"/>
              </a:rPr>
              <a:t>zₜ = (aₜ − median(aᵤ)) / (1.4826 · MAD(aᵤ))</a:t>
            </a:r>
          </a:p>
        </p:txBody>
      </p:sp>
      <p:sp>
        <p:nvSpPr>
          <p:cNvPr id="16" name="">
            <a:extLst xmlns:a="http://schemas.openxmlformats.org/drawingml/2006/main">
              <a:ext uri="{FF2B5EF4-FFF2-40B4-BE49-F238E27FC236}">
                <a16:creationId xmlns:a16="http://schemas.microsoft.com/office/drawing/2014/main" id="{AF28A15C-A760-4998-A07E-F68C2B421B67}"/>
              </a:ext>
            </a:extLst>
          </p:cNvPr>
          <p:cNvSpPr>
            <a:spLocks xmlns:a="http://schemas.openxmlformats.org/drawingml/2006/main" noGrp="1"/>
          </p:cNvSpPr>
          <p:nvPr/>
        </p:nvSpPr>
        <p:spPr>
          <a:xfrm xmlns:a="http://schemas.openxmlformats.org/drawingml/2006/main">
            <a:off x="6477000" y="3981450"/>
            <a:ext cx="4714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575" b="0" i="0">
                <a:solidFill>
                  <a:srgbClr val="506079"/>
                </a:solidFill>
                <a:latin typeface="Segoe UI"/>
                <a:ea typeface="Segoe UI"/>
                <a:cs typeface="Segoe UI"/>
              </a:defRPr>
            </a:pPr>
            <a:r>
              <a:rPr sz="1575" b="0" i="0">
                <a:solidFill>
                  <a:srgbClr val="506079"/>
                </a:solidFill>
                <a:latin typeface="Segoe UI"/>
                <a:ea typeface="Segoe UI"/>
                <a:cs typeface="Segoe UI"/>
              </a:rPr>
              <a:t>Chuẩn hóa bằng trung vị và MAD giúp so sánh điểm giữa các người dùng, đồng thời ít nhạy với ngoại lai hơn trung bình và độ lệch chuẩn.</a:t>
            </a:r>
          </a:p>
        </p:txBody>
      </p:sp>
      <p:sp>
        <p:nvSpPr>
          <p:cNvPr id="17" name="">
            <a:extLst xmlns:a="http://schemas.openxmlformats.org/drawingml/2006/main">
              <a:ext uri="{FF2B5EF4-FFF2-40B4-BE49-F238E27FC236}">
                <a16:creationId xmlns:a16="http://schemas.microsoft.com/office/drawing/2014/main" id="{284B90BD-AC61-49DC-9004-F302BDE58EF0}"/>
              </a:ext>
            </a:extLst>
          </p:cNvPr>
          <p:cNvSpPr>
            <a:spLocks xmlns:a="http://schemas.openxmlformats.org/drawingml/2006/main" noGrp="1"/>
          </p:cNvSpPr>
          <p:nvPr/>
        </p:nvSpPr>
        <p:spPr>
          <a:xfrm xmlns:a="http://schemas.openxmlformats.org/drawingml/2006/main">
            <a:off x="628650" y="6496050"/>
            <a:ext cx="962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Liu et al. (2008), Isolation Forest</a:t>
            </a:r>
          </a:p>
        </p:txBody>
      </p:sp>
      <p:sp>
        <p:nvSpPr>
          <p:cNvPr id="18" name="">
            <a:extLst xmlns:a="http://schemas.openxmlformats.org/drawingml/2006/main">
              <a:ext uri="{FF2B5EF4-FFF2-40B4-BE49-F238E27FC236}">
                <a16:creationId xmlns:a16="http://schemas.microsoft.com/office/drawing/2014/main" id="{7C5537BA-C4D2-4880-8FDA-0FCCF934F6D4}"/>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16045112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923064E-048B-4930-B5E8-8BE30611CD60}"/>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Cộng dồn bằng chứng và ngưỡng thích ứng</a:t>
            </a:r>
          </a:p>
        </p:txBody>
      </p:sp>
      <p:sp>
        <p:nvSpPr>
          <p:cNvPr id="2" name="">
            <a:extLst xmlns:a="http://schemas.openxmlformats.org/drawingml/2006/main">
              <a:ext uri="{FF2B5EF4-FFF2-40B4-BE49-F238E27FC236}">
                <a16:creationId xmlns:a16="http://schemas.microsoft.com/office/drawing/2014/main" id="{3C4888F1-14D7-4B78-B5F2-0568523D79D5}"/>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60C0387A-55D0-4176-BB87-8AACFAC72CB5}"/>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07</a:t>
            </a:r>
          </a:p>
        </p:txBody>
      </p:sp>
      <p:sp>
        <p:nvSpPr>
          <p:cNvPr id="4" name="">
            <a:extLst xmlns:a="http://schemas.openxmlformats.org/drawingml/2006/main">
              <a:ext uri="{FF2B5EF4-FFF2-40B4-BE49-F238E27FC236}">
                <a16:creationId xmlns:a16="http://schemas.microsoft.com/office/drawing/2014/main" id="{32133D5E-2F1F-457C-A0E8-E1B0B3A84889}"/>
              </a:ext>
            </a:extLst>
          </p:cNvPr>
          <p:cNvSpPr>
            <a:spLocks xmlns:a="http://schemas.openxmlformats.org/drawingml/2006/main" noGrp="1"/>
          </p:cNvSpPr>
          <p:nvPr/>
        </p:nvSpPr>
        <p:spPr>
          <a:xfrm xmlns:a="http://schemas.openxmlformats.org/drawingml/2006/main">
            <a:off x="685800" y="12573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765"/>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CUSUM có hệ số quên</a:t>
            </a:r>
          </a:p>
        </p:txBody>
      </p:sp>
      <p:sp>
        <p:nvSpPr>
          <p:cNvPr id="5" name="">
            <a:extLst xmlns:a="http://schemas.openxmlformats.org/drawingml/2006/main">
              <a:ext uri="{FF2B5EF4-FFF2-40B4-BE49-F238E27FC236}">
                <a16:creationId xmlns:a16="http://schemas.microsoft.com/office/drawing/2014/main" id="{BE789689-00EC-4B95-B485-585875FADF9A}"/>
              </a:ext>
            </a:extLst>
          </p:cNvPr>
          <p:cNvSpPr>
            <a:spLocks xmlns:a="http://schemas.openxmlformats.org/drawingml/2006/main" noGrp="1"/>
          </p:cNvSpPr>
          <p:nvPr/>
        </p:nvSpPr>
        <p:spPr>
          <a:xfrm xmlns:a="http://schemas.openxmlformats.org/drawingml/2006/main">
            <a:off x="685800" y="1752600"/>
            <a:ext cx="5905500" cy="1428750"/>
          </a:xfrm>
          <a:prstGeom xmlns:a="http://schemas.openxmlformats.org/drawingml/2006/main" prst="roundRect">
            <a:avLst>
              <a:gd name="adj" fmla="val 6667"/>
            </a:avLst>
          </a:prstGeom>
          <a:solidFill xmlns:a="http://schemas.openxmlformats.org/drawingml/2006/main">
            <a:srgbClr val="EEF4FC"/>
          </a:solidFill>
          <a:ln xmlns:a="http://schemas.openxmlformats.org/drawingml/2006/main" w="9525">
            <a:solidFill>
              <a:srgbClr val="D7E0EC"/>
            </a:solidFill>
            <a:prstDash val="solid"/>
          </a:ln>
        </p:spPr>
      </p:sp>
      <p:sp>
        <p:nvSpPr>
          <p:cNvPr id="6" name="">
            <a:extLst xmlns:a="http://schemas.openxmlformats.org/drawingml/2006/main">
              <a:ext uri="{FF2B5EF4-FFF2-40B4-BE49-F238E27FC236}">
                <a16:creationId xmlns:a16="http://schemas.microsoft.com/office/drawing/2014/main" id="{8787EE58-EF04-4767-AA35-70B3D7E0211C}"/>
              </a:ext>
            </a:extLst>
          </p:cNvPr>
          <p:cNvSpPr>
            <a:spLocks xmlns:a="http://schemas.openxmlformats.org/drawingml/2006/main" noGrp="1"/>
          </p:cNvSpPr>
          <p:nvPr/>
        </p:nvSpPr>
        <p:spPr>
          <a:xfrm xmlns:a="http://schemas.openxmlformats.org/drawingml/2006/main">
            <a:off x="1000125" y="2047875"/>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625" b="1" i="0">
                <a:solidFill>
                  <a:srgbClr val="2457C5"/>
                </a:solidFill>
                <a:latin typeface="Cambria Math"/>
                <a:ea typeface="Cambria Math"/>
                <a:cs typeface="Cambria Math"/>
              </a:defRPr>
            </a:pPr>
            <a:r>
              <a:rPr sz="2625" b="1" i="0">
                <a:solidFill>
                  <a:srgbClr val="2457C5"/>
                </a:solidFill>
                <a:latin typeface="Cambria Math"/>
                <a:ea typeface="Cambria Math"/>
                <a:cs typeface="Cambria Math"/>
              </a:rPr>
              <a:t>Sₜ = max{0, λSₜ₋₁ + zₜ − k}</a:t>
            </a:r>
          </a:p>
        </p:txBody>
      </p:sp>
      <p:sp>
        <p:nvSpPr>
          <p:cNvPr id="7" name="">
            <a:extLst xmlns:a="http://schemas.openxmlformats.org/drawingml/2006/main">
              <a:ext uri="{FF2B5EF4-FFF2-40B4-BE49-F238E27FC236}">
                <a16:creationId xmlns:a16="http://schemas.microsoft.com/office/drawing/2014/main" id="{F87F8494-E53D-434D-B404-5A94263AE8A7}"/>
              </a:ext>
            </a:extLst>
          </p:cNvPr>
          <p:cNvSpPr>
            <a:spLocks xmlns:a="http://schemas.openxmlformats.org/drawingml/2006/main" noGrp="1"/>
          </p:cNvSpPr>
          <p:nvPr/>
        </p:nvSpPr>
        <p:spPr>
          <a:xfrm xmlns:a="http://schemas.openxmlformats.org/drawingml/2006/main">
            <a:off x="1009650" y="26574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1447"/>
          </a:bodyPr>
          <a:lstStyle xmlns:a="http://schemas.openxmlformats.org/drawingml/2006/main"/>
          <a:p xmlns:a="http://schemas.openxmlformats.org/drawingml/2006/main">
            <a:pPr algn="ctr">
              <a:lnSpc>
                <a:spcPct val="108000"/>
              </a:lnSpc>
              <a:buNone/>
              <a:defRPr sz="1350" b="0" i="0">
                <a:solidFill>
                  <a:srgbClr val="506079"/>
                </a:solidFill>
                <a:latin typeface="Segoe UI"/>
                <a:ea typeface="Segoe UI"/>
                <a:cs typeface="Segoe UI"/>
              </a:defRPr>
            </a:pPr>
            <a:r>
              <a:rPr sz="1350" b="0" i="0">
                <a:solidFill>
                  <a:srgbClr val="506079"/>
                </a:solidFill>
                <a:latin typeface="Segoe UI"/>
                <a:ea typeface="Segoe UI"/>
                <a:cs typeface="Segoe UI"/>
              </a:rPr>
              <a:t>λ quyết định mức ghi nhớ.  k loại bỏ dao động nhỏ.  Sₜ tăng khi nhiều cửa sổ liên tiếp bất thường.</a:t>
            </a:r>
          </a:p>
        </p:txBody>
      </p:sp>
      <p:sp>
        <p:nvSpPr>
          <p:cNvPr id="8" name="">
            <a:extLst xmlns:a="http://schemas.openxmlformats.org/drawingml/2006/main">
              <a:ext uri="{FF2B5EF4-FFF2-40B4-BE49-F238E27FC236}">
                <a16:creationId xmlns:a16="http://schemas.microsoft.com/office/drawing/2014/main" id="{8ECED536-CA95-4291-863A-1B6F76CAE0BD}"/>
              </a:ext>
            </a:extLst>
          </p:cNvPr>
          <p:cNvSpPr>
            <a:spLocks xmlns:a="http://schemas.openxmlformats.org/drawingml/2006/main" noGrp="1"/>
          </p:cNvSpPr>
          <p:nvPr/>
        </p:nvSpPr>
        <p:spPr>
          <a:xfrm xmlns:a="http://schemas.openxmlformats.org/drawingml/2006/main">
            <a:off x="685800" y="36576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Ngưỡng theo người dùng và ngữ cảnh</a:t>
            </a:r>
          </a:p>
        </p:txBody>
      </p:sp>
      <p:sp>
        <p:nvSpPr>
          <p:cNvPr id="9" name="">
            <a:extLst xmlns:a="http://schemas.openxmlformats.org/drawingml/2006/main">
              <a:ext uri="{FF2B5EF4-FFF2-40B4-BE49-F238E27FC236}">
                <a16:creationId xmlns:a16="http://schemas.microsoft.com/office/drawing/2014/main" id="{DA45059F-DFE5-4439-A573-ECC889D254A3}"/>
              </a:ext>
            </a:extLst>
          </p:cNvPr>
          <p:cNvSpPr>
            <a:spLocks xmlns:a="http://schemas.openxmlformats.org/drawingml/2006/main" noGrp="1"/>
          </p:cNvSpPr>
          <p:nvPr/>
        </p:nvSpPr>
        <p:spPr>
          <a:xfrm xmlns:a="http://schemas.openxmlformats.org/drawingml/2006/main">
            <a:off x="704850" y="4210050"/>
            <a:ext cx="609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875" b="1" i="0">
                <a:solidFill>
                  <a:srgbClr val="142033"/>
                </a:solidFill>
                <a:latin typeface="Cambria Math"/>
                <a:ea typeface="Cambria Math"/>
                <a:cs typeface="Cambria Math"/>
              </a:defRPr>
            </a:pPr>
            <a:r>
              <a:rPr sz="1875" b="1" i="0">
                <a:solidFill>
                  <a:srgbClr val="142033"/>
                </a:solidFill>
                <a:latin typeface="Cambria Math"/>
                <a:ea typeface="Cambria Math"/>
                <a:cs typeface="Cambria Math"/>
              </a:rPr>
              <a:t>hⱼ(u,c,n) = θⱼ₀ + θⱼ₁qᵤ + θⱼ₂Iₛᵉₙₛ + θⱼ₃ log(1+n)</a:t>
            </a:r>
          </a:p>
        </p:txBody>
      </p:sp>
      <p:sp>
        <p:nvSpPr>
          <p:cNvPr id="10" name="">
            <a:extLst xmlns:a="http://schemas.openxmlformats.org/drawingml/2006/main">
              <a:ext uri="{FF2B5EF4-FFF2-40B4-BE49-F238E27FC236}">
                <a16:creationId xmlns:a16="http://schemas.microsoft.com/office/drawing/2014/main" id="{76A6B031-10A4-43CA-9A25-37DC2C40F23F}"/>
              </a:ext>
            </a:extLst>
          </p:cNvPr>
          <p:cNvSpPr>
            <a:spLocks xmlns:a="http://schemas.openxmlformats.org/drawingml/2006/main" noGrp="1"/>
          </p:cNvSpPr>
          <p:nvPr/>
        </p:nvSpPr>
        <p:spPr>
          <a:xfrm xmlns:a="http://schemas.openxmlformats.org/drawingml/2006/main">
            <a:off x="819150" y="4819650"/>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qᵤ: độ biến động của người dùng   |   Iₛᵉₙₛ: thao tác nhạy cảm   |   n: độ dài phiên</a:t>
            </a:r>
          </a:p>
        </p:txBody>
      </p:sp>
      <p:sp>
        <p:nvSpPr>
          <p:cNvPr id="11" name="">
            <a:extLst xmlns:a="http://schemas.openxmlformats.org/drawingml/2006/main">
              <a:ext uri="{FF2B5EF4-FFF2-40B4-BE49-F238E27FC236}">
                <a16:creationId xmlns:a16="http://schemas.microsoft.com/office/drawing/2014/main" id="{F7866FFA-9764-4B27-94EE-277782A09FA0}"/>
              </a:ext>
            </a:extLst>
          </p:cNvPr>
          <p:cNvSpPr>
            <a:spLocks xmlns:a="http://schemas.openxmlformats.org/drawingml/2006/main" noGrp="1"/>
          </p:cNvSpPr>
          <p:nvPr/>
        </p:nvSpPr>
        <p:spPr>
          <a:xfrm xmlns:a="http://schemas.openxmlformats.org/drawingml/2006/main">
            <a:off x="7524750" y="1504950"/>
            <a:ext cx="3429000" cy="876300"/>
          </a:xfrm>
          <a:prstGeom xmlns:a="http://schemas.openxmlformats.org/drawingml/2006/main" prst="roundRect">
            <a:avLst>
              <a:gd name="adj" fmla="val 10870"/>
            </a:avLst>
          </a:prstGeom>
          <a:solidFill xmlns:a="http://schemas.openxmlformats.org/drawingml/2006/main">
            <a:srgbClr val="EAF8F4"/>
          </a:solidFill>
          <a:ln xmlns:a="http://schemas.openxmlformats.org/drawingml/2006/main" w="9525">
            <a:solidFill>
              <a:srgbClr val="B7DED1"/>
            </a:solidFill>
            <a:prstDash val="solid"/>
          </a:ln>
        </p:spPr>
      </p:sp>
      <p:sp>
        <p:nvSpPr>
          <p:cNvPr id="12" name="">
            <a:extLst xmlns:a="http://schemas.openxmlformats.org/drawingml/2006/main">
              <a:ext uri="{FF2B5EF4-FFF2-40B4-BE49-F238E27FC236}">
                <a16:creationId xmlns:a16="http://schemas.microsoft.com/office/drawing/2014/main" id="{B11AB867-62F3-4369-85CB-439AABBB071A}"/>
              </a:ext>
            </a:extLst>
          </p:cNvPr>
          <p:cNvSpPr>
            <a:spLocks xmlns:a="http://schemas.openxmlformats.org/drawingml/2006/main" noGrp="1"/>
          </p:cNvSpPr>
          <p:nvPr/>
        </p:nvSpPr>
        <p:spPr>
          <a:xfrm xmlns:a="http://schemas.openxmlformats.org/drawingml/2006/main">
            <a:off x="7524750" y="2876550"/>
            <a:ext cx="3429000" cy="876300"/>
          </a:xfrm>
          <a:prstGeom xmlns:a="http://schemas.openxmlformats.org/drawingml/2006/main" prst="roundRect">
            <a:avLst>
              <a:gd name="adj" fmla="val 10870"/>
            </a:avLst>
          </a:prstGeom>
          <a:solidFill xmlns:a="http://schemas.openxmlformats.org/drawingml/2006/main">
            <a:srgbClr val="FFF6E8"/>
          </a:solidFill>
          <a:ln xmlns:a="http://schemas.openxmlformats.org/drawingml/2006/main" w="9525">
            <a:solidFill>
              <a:srgbClr val="E8C58F"/>
            </a:solidFill>
            <a:prstDash val="solid"/>
          </a:ln>
        </p:spPr>
      </p:sp>
      <p:sp>
        <p:nvSpPr>
          <p:cNvPr id="13" name="">
            <a:extLst xmlns:a="http://schemas.openxmlformats.org/drawingml/2006/main">
              <a:ext uri="{FF2B5EF4-FFF2-40B4-BE49-F238E27FC236}">
                <a16:creationId xmlns:a16="http://schemas.microsoft.com/office/drawing/2014/main" id="{7A23ABE7-3326-4FB5-977E-44A6A59348E4}"/>
              </a:ext>
            </a:extLst>
          </p:cNvPr>
          <p:cNvSpPr>
            <a:spLocks xmlns:a="http://schemas.openxmlformats.org/drawingml/2006/main" noGrp="1"/>
          </p:cNvSpPr>
          <p:nvPr/>
        </p:nvSpPr>
        <p:spPr>
          <a:xfrm xmlns:a="http://schemas.openxmlformats.org/drawingml/2006/main">
            <a:off x="7524750" y="4248150"/>
            <a:ext cx="3429000" cy="876300"/>
          </a:xfrm>
          <a:prstGeom xmlns:a="http://schemas.openxmlformats.org/drawingml/2006/main" prst="roundRect">
            <a:avLst>
              <a:gd name="adj" fmla="val 10870"/>
            </a:avLst>
          </a:prstGeom>
          <a:solidFill xmlns:a="http://schemas.openxmlformats.org/drawingml/2006/main">
            <a:srgbClr val="FCEDEF"/>
          </a:solidFill>
          <a:ln xmlns:a="http://schemas.openxmlformats.org/drawingml/2006/main" w="9525">
            <a:solidFill>
              <a:srgbClr val="E6B6BD"/>
            </a:solidFill>
            <a:prstDash val="solid"/>
          </a:ln>
        </p:spPr>
      </p:sp>
      <p:sp>
        <p:nvSpPr>
          <p:cNvPr id="14" name="">
            <a:extLst xmlns:a="http://schemas.openxmlformats.org/drawingml/2006/main">
              <a:ext uri="{FF2B5EF4-FFF2-40B4-BE49-F238E27FC236}">
                <a16:creationId xmlns:a16="http://schemas.microsoft.com/office/drawing/2014/main" id="{7DC2DAAB-5496-40FC-806E-4D8123C9F1B7}"/>
              </a:ext>
            </a:extLst>
          </p:cNvPr>
          <p:cNvSpPr>
            <a:spLocks xmlns:a="http://schemas.openxmlformats.org/drawingml/2006/main" noGrp="1"/>
          </p:cNvSpPr>
          <p:nvPr/>
        </p:nvSpPr>
        <p:spPr>
          <a:xfrm xmlns:a="http://schemas.openxmlformats.org/drawingml/2006/main">
            <a:off x="7810500" y="16383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l">
              <a:lnSpc>
                <a:spcPct val="108000"/>
              </a:lnSpc>
              <a:buNone/>
              <a:defRPr sz="1425" b="1" i="0">
                <a:solidFill>
                  <a:srgbClr val="16845B"/>
                </a:solidFill>
                <a:latin typeface="Segoe UI"/>
                <a:ea typeface="Segoe UI"/>
                <a:cs typeface="Segoe UI"/>
              </a:defRPr>
            </a:pPr>
            <a:r>
              <a:rPr sz="1425" b="1" i="0">
                <a:solidFill>
                  <a:srgbClr val="16845B"/>
                </a:solidFill>
                <a:latin typeface="Segoe UI"/>
                <a:ea typeface="Segoe UI"/>
                <a:cs typeface="Segoe UI"/>
              </a:rPr>
              <a:t>Sₜ &lt; h₁</a:t>
            </a:r>
          </a:p>
        </p:txBody>
      </p:sp>
      <p:sp>
        <p:nvSpPr>
          <p:cNvPr id="15" name="">
            <a:extLst xmlns:a="http://schemas.openxmlformats.org/drawingml/2006/main">
              <a:ext uri="{FF2B5EF4-FFF2-40B4-BE49-F238E27FC236}">
                <a16:creationId xmlns:a16="http://schemas.microsoft.com/office/drawing/2014/main" id="{83CD8B62-8849-4DD2-9790-BDF9C0561305}"/>
              </a:ext>
            </a:extLst>
          </p:cNvPr>
          <p:cNvSpPr>
            <a:spLocks xmlns:a="http://schemas.openxmlformats.org/drawingml/2006/main" noGrp="1"/>
          </p:cNvSpPr>
          <p:nvPr/>
        </p:nvSpPr>
        <p:spPr>
          <a:xfrm xmlns:a="http://schemas.openxmlformats.org/drawingml/2006/main">
            <a:off x="7810500" y="19240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6420"/>
          </a:bodyPr>
          <a:lstStyle xmlns:a="http://schemas.openxmlformats.org/drawingml/2006/main"/>
          <a:p xmlns:a="http://schemas.openxmlformats.org/drawingml/2006/main">
            <a:pPr algn="l">
              <a:lnSpc>
                <a:spcPct val="108000"/>
              </a:lnSpc>
              <a:buNone/>
              <a:defRPr sz="1875" b="1" i="0">
                <a:solidFill>
                  <a:srgbClr val="142033"/>
                </a:solidFill>
                <a:latin typeface="Segoe UI"/>
                <a:ea typeface="Segoe UI"/>
                <a:cs typeface="Segoe UI"/>
              </a:defRPr>
            </a:pPr>
            <a:r>
              <a:rPr sz="1875" b="1" i="0">
                <a:solidFill>
                  <a:srgbClr val="142033"/>
                </a:solidFill>
                <a:latin typeface="Segoe UI"/>
                <a:ea typeface="Segoe UI"/>
                <a:cs typeface="Segoe UI"/>
              </a:rPr>
              <a:t>Tiếp tục phiên</a:t>
            </a:r>
          </a:p>
        </p:txBody>
      </p:sp>
      <p:sp>
        <p:nvSpPr>
          <p:cNvPr id="16" name="">
            <a:extLst xmlns:a="http://schemas.openxmlformats.org/drawingml/2006/main">
              <a:ext uri="{FF2B5EF4-FFF2-40B4-BE49-F238E27FC236}">
                <a16:creationId xmlns:a16="http://schemas.microsoft.com/office/drawing/2014/main" id="{C01B1C0E-96FF-494D-A734-A3803010EA35}"/>
              </a:ext>
            </a:extLst>
          </p:cNvPr>
          <p:cNvSpPr>
            <a:spLocks xmlns:a="http://schemas.openxmlformats.org/drawingml/2006/main" noGrp="1"/>
          </p:cNvSpPr>
          <p:nvPr/>
        </p:nvSpPr>
        <p:spPr>
          <a:xfrm xmlns:a="http://schemas.openxmlformats.org/drawingml/2006/main">
            <a:off x="7810500" y="30099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l">
              <a:lnSpc>
                <a:spcPct val="108000"/>
              </a:lnSpc>
              <a:buNone/>
              <a:defRPr sz="1425" b="1" i="0">
                <a:solidFill>
                  <a:srgbClr val="B86B00"/>
                </a:solidFill>
                <a:latin typeface="Segoe UI"/>
                <a:ea typeface="Segoe UI"/>
                <a:cs typeface="Segoe UI"/>
              </a:defRPr>
            </a:pPr>
            <a:r>
              <a:rPr sz="1425" b="1" i="0">
                <a:solidFill>
                  <a:srgbClr val="B86B00"/>
                </a:solidFill>
                <a:latin typeface="Segoe UI"/>
                <a:ea typeface="Segoe UI"/>
                <a:cs typeface="Segoe UI"/>
              </a:rPr>
              <a:t>h₁ ≤ Sₜ &lt; h₂</a:t>
            </a:r>
          </a:p>
        </p:txBody>
      </p:sp>
      <p:sp>
        <p:nvSpPr>
          <p:cNvPr id="17" name="">
            <a:extLst xmlns:a="http://schemas.openxmlformats.org/drawingml/2006/main">
              <a:ext uri="{FF2B5EF4-FFF2-40B4-BE49-F238E27FC236}">
                <a16:creationId xmlns:a16="http://schemas.microsoft.com/office/drawing/2014/main" id="{40B5459E-47E4-4BC0-B0D9-2A1944E907B3}"/>
              </a:ext>
            </a:extLst>
          </p:cNvPr>
          <p:cNvSpPr>
            <a:spLocks xmlns:a="http://schemas.openxmlformats.org/drawingml/2006/main" noGrp="1"/>
          </p:cNvSpPr>
          <p:nvPr/>
        </p:nvSpPr>
        <p:spPr>
          <a:xfrm xmlns:a="http://schemas.openxmlformats.org/drawingml/2006/main">
            <a:off x="7810500" y="32956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6420"/>
          </a:bodyPr>
          <a:lstStyle xmlns:a="http://schemas.openxmlformats.org/drawingml/2006/main"/>
          <a:p xmlns:a="http://schemas.openxmlformats.org/drawingml/2006/main">
            <a:pPr algn="l">
              <a:lnSpc>
                <a:spcPct val="108000"/>
              </a:lnSpc>
              <a:buNone/>
              <a:defRPr sz="1875" b="1" i="0">
                <a:solidFill>
                  <a:srgbClr val="142033"/>
                </a:solidFill>
                <a:latin typeface="Segoe UI"/>
                <a:ea typeface="Segoe UI"/>
                <a:cs typeface="Segoe UI"/>
              </a:defRPr>
            </a:pPr>
            <a:r>
              <a:rPr sz="1875" b="1" i="0">
                <a:solidFill>
                  <a:srgbClr val="142033"/>
                </a:solidFill>
                <a:latin typeface="Segoe UI"/>
                <a:ea typeface="Segoe UI"/>
                <a:cs typeface="Segoe UI"/>
              </a:rPr>
              <a:t>Yêu cầu MFA</a:t>
            </a:r>
          </a:p>
        </p:txBody>
      </p:sp>
      <p:sp>
        <p:nvSpPr>
          <p:cNvPr id="18" name="">
            <a:extLst xmlns:a="http://schemas.openxmlformats.org/drawingml/2006/main">
              <a:ext uri="{FF2B5EF4-FFF2-40B4-BE49-F238E27FC236}">
                <a16:creationId xmlns:a16="http://schemas.microsoft.com/office/drawing/2014/main" id="{EBCF1C51-026C-4A00-89E1-BE6AB9E7BE44}"/>
              </a:ext>
            </a:extLst>
          </p:cNvPr>
          <p:cNvSpPr>
            <a:spLocks xmlns:a="http://schemas.openxmlformats.org/drawingml/2006/main" noGrp="1"/>
          </p:cNvSpPr>
          <p:nvPr/>
        </p:nvSpPr>
        <p:spPr>
          <a:xfrm xmlns:a="http://schemas.openxmlformats.org/drawingml/2006/main">
            <a:off x="7810500" y="4381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l">
              <a:lnSpc>
                <a:spcPct val="108000"/>
              </a:lnSpc>
              <a:buNone/>
              <a:defRPr sz="1425" b="1" i="0">
                <a:solidFill>
                  <a:srgbClr val="B83C48"/>
                </a:solidFill>
                <a:latin typeface="Segoe UI"/>
                <a:ea typeface="Segoe UI"/>
                <a:cs typeface="Segoe UI"/>
              </a:defRPr>
            </a:pPr>
            <a:r>
              <a:rPr sz="1425" b="1" i="0">
                <a:solidFill>
                  <a:srgbClr val="B83C48"/>
                </a:solidFill>
                <a:latin typeface="Segoe UI"/>
                <a:ea typeface="Segoe UI"/>
                <a:cs typeface="Segoe UI"/>
              </a:rPr>
              <a:t>Sₜ ≥ h₂</a:t>
            </a:r>
          </a:p>
        </p:txBody>
      </p:sp>
      <p:sp>
        <p:nvSpPr>
          <p:cNvPr id="19" name="">
            <a:extLst xmlns:a="http://schemas.openxmlformats.org/drawingml/2006/main">
              <a:ext uri="{FF2B5EF4-FFF2-40B4-BE49-F238E27FC236}">
                <a16:creationId xmlns:a16="http://schemas.microsoft.com/office/drawing/2014/main" id="{A4BB0DE9-9654-4E6C-8CA0-591B1EF78606}"/>
              </a:ext>
            </a:extLst>
          </p:cNvPr>
          <p:cNvSpPr>
            <a:spLocks xmlns:a="http://schemas.openxmlformats.org/drawingml/2006/main" noGrp="1"/>
          </p:cNvSpPr>
          <p:nvPr/>
        </p:nvSpPr>
        <p:spPr>
          <a:xfrm xmlns:a="http://schemas.openxmlformats.org/drawingml/2006/main">
            <a:off x="7810500" y="46672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6420"/>
          </a:bodyPr>
          <a:lstStyle xmlns:a="http://schemas.openxmlformats.org/drawingml/2006/main"/>
          <a:p xmlns:a="http://schemas.openxmlformats.org/drawingml/2006/main">
            <a:pPr algn="l">
              <a:lnSpc>
                <a:spcPct val="108000"/>
              </a:lnSpc>
              <a:buNone/>
              <a:defRPr sz="1875" b="1" i="0">
                <a:solidFill>
                  <a:srgbClr val="142033"/>
                </a:solidFill>
                <a:latin typeface="Segoe UI"/>
                <a:ea typeface="Segoe UI"/>
                <a:cs typeface="Segoe UI"/>
              </a:defRPr>
            </a:pPr>
            <a:r>
              <a:rPr sz="1875" b="1" i="0">
                <a:solidFill>
                  <a:srgbClr val="142033"/>
                </a:solidFill>
                <a:latin typeface="Segoe UI"/>
                <a:ea typeface="Segoe UI"/>
                <a:cs typeface="Segoe UI"/>
              </a:rPr>
              <a:t>Thu hồi phiên</a:t>
            </a:r>
          </a:p>
        </p:txBody>
      </p:sp>
      <p:sp>
        <p:nvSpPr>
          <p:cNvPr id="20" name="">
            <a:extLst xmlns:a="http://schemas.openxmlformats.org/drawingml/2006/main">
              <a:ext uri="{FF2B5EF4-FFF2-40B4-BE49-F238E27FC236}">
                <a16:creationId xmlns:a16="http://schemas.microsoft.com/office/drawing/2014/main" id="{97ED4057-46DE-496F-AC30-BCC234B78CF6}"/>
              </a:ext>
            </a:extLst>
          </p:cNvPr>
          <p:cNvSpPr>
            <a:spLocks xmlns:a="http://schemas.openxmlformats.org/drawingml/2006/main" noGrp="1"/>
          </p:cNvSpPr>
          <p:nvPr/>
        </p:nvSpPr>
        <p:spPr>
          <a:xfrm xmlns:a="http://schemas.openxmlformats.org/drawingml/2006/main">
            <a:off x="685800" y="57531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800" b="1" i="0">
                <a:solidFill>
                  <a:srgbClr val="102A56"/>
                </a:solidFill>
                <a:latin typeface="Cambria Math"/>
                <a:ea typeface="Cambria Math"/>
                <a:cs typeface="Cambria Math"/>
              </a:defRPr>
            </a:pPr>
            <a:r>
              <a:rPr sz="1800" b="1" i="0">
                <a:solidFill>
                  <a:srgbClr val="102A56"/>
                </a:solidFill>
                <a:latin typeface="Cambria Math"/>
                <a:ea typeface="Cambria Math"/>
                <a:cs typeface="Cambria Math"/>
              </a:rPr>
              <a:t>Bài toán:  min Cᴹᶠᴬ   với ràng buộc median TTD ≤ B và FAR ≤ α</a:t>
            </a:r>
          </a:p>
        </p:txBody>
      </p:sp>
      <p:sp>
        <p:nvSpPr>
          <p:cNvPr id="21" name="">
            <a:extLst xmlns:a="http://schemas.openxmlformats.org/drawingml/2006/main">
              <a:ext uri="{FF2B5EF4-FFF2-40B4-BE49-F238E27FC236}">
                <a16:creationId xmlns:a16="http://schemas.microsoft.com/office/drawing/2014/main" id="{18C22B73-5285-4071-9C07-1E6DBA3CF570}"/>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20865779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C5D3BE0-2E7F-4257-8204-A3ED505D7583}"/>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Quy trình thu thập và chia dữ liệu</a:t>
            </a:r>
          </a:p>
        </p:txBody>
      </p:sp>
      <p:sp>
        <p:nvSpPr>
          <p:cNvPr id="2" name="">
            <a:extLst xmlns:a="http://schemas.openxmlformats.org/drawingml/2006/main">
              <a:ext uri="{FF2B5EF4-FFF2-40B4-BE49-F238E27FC236}">
                <a16:creationId xmlns:a16="http://schemas.microsoft.com/office/drawing/2014/main" id="{AFC5C576-87EC-4BE7-A0FE-CFB7D177496C}"/>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FFCF5891-B3DB-47D7-9639-75D95AF26E5A}"/>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08</a:t>
            </a:r>
          </a:p>
        </p:txBody>
      </p:sp>
      <p:sp>
        <p:nvSpPr>
          <p:cNvPr id="4" name="">
            <a:extLst xmlns:a="http://schemas.openxmlformats.org/drawingml/2006/main">
              <a:ext uri="{FF2B5EF4-FFF2-40B4-BE49-F238E27FC236}">
                <a16:creationId xmlns:a16="http://schemas.microsoft.com/office/drawing/2014/main" id="{2B8EC4A7-07D2-4885-9C8F-7AE376E38876}"/>
              </a:ext>
            </a:extLst>
          </p:cNvPr>
          <p:cNvSpPr>
            <a:spLocks xmlns:a="http://schemas.openxmlformats.org/drawingml/2006/main" noGrp="1"/>
          </p:cNvSpPr>
          <p:nvPr/>
        </p:nvSpPr>
        <p:spPr>
          <a:xfrm xmlns:a="http://schemas.openxmlformats.org/drawingml/2006/main">
            <a:off x="685800" y="1638300"/>
            <a:ext cx="2381250" cy="2333625"/>
          </a:xfrm>
          <a:prstGeom xmlns:a="http://schemas.openxmlformats.org/drawingml/2006/main" prst="roundRect">
            <a:avLst>
              <a:gd name="adj" fmla="val 4898"/>
            </a:avLst>
          </a:prstGeom>
          <a:solidFill xmlns:a="http://schemas.openxmlformats.org/drawingml/2006/main">
            <a:srgbClr val="F7F9FC"/>
          </a:solidFill>
          <a:ln xmlns:a="http://schemas.openxmlformats.org/drawingml/2006/main" w="9525">
            <a:solidFill>
              <a:srgbClr val="D7E0EC"/>
            </a:solidFill>
            <a:prstDash val="solid"/>
          </a:ln>
        </p:spPr>
      </p:sp>
      <p:sp>
        <p:nvSpPr>
          <p:cNvPr id="5" name="">
            <a:extLst xmlns:a="http://schemas.openxmlformats.org/drawingml/2006/main">
              <a:ext uri="{FF2B5EF4-FFF2-40B4-BE49-F238E27FC236}">
                <a16:creationId xmlns:a16="http://schemas.microsoft.com/office/drawing/2014/main" id="{517C56F2-C81A-4ADF-B9AC-813243374B5D}"/>
              </a:ext>
            </a:extLst>
          </p:cNvPr>
          <p:cNvSpPr>
            <a:spLocks xmlns:a="http://schemas.openxmlformats.org/drawingml/2006/main" noGrp="1"/>
          </p:cNvSpPr>
          <p:nvPr/>
        </p:nvSpPr>
        <p:spPr>
          <a:xfrm xmlns:a="http://schemas.openxmlformats.org/drawingml/2006/main">
            <a:off x="838200" y="1790700"/>
            <a:ext cx="43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100" b="1" i="0">
                <a:solidFill>
                  <a:srgbClr val="2457C5"/>
                </a:solidFill>
                <a:latin typeface="Segoe UI"/>
                <a:ea typeface="Segoe UI"/>
                <a:cs typeface="Segoe UI"/>
              </a:defRPr>
            </a:pPr>
            <a:r>
              <a:rPr sz="2100" b="1" i="0">
                <a:solidFill>
                  <a:srgbClr val="2457C5"/>
                </a:solidFill>
                <a:latin typeface="Segoe UI"/>
                <a:ea typeface="Segoe UI"/>
                <a:cs typeface="Segoe UI"/>
              </a:rPr>
              <a:t>1</a:t>
            </a:r>
          </a:p>
        </p:txBody>
      </p:sp>
      <p:sp>
        <p:nvSpPr>
          <p:cNvPr id="6" name="">
            <a:extLst xmlns:a="http://schemas.openxmlformats.org/drawingml/2006/main">
              <a:ext uri="{FF2B5EF4-FFF2-40B4-BE49-F238E27FC236}">
                <a16:creationId xmlns:a16="http://schemas.microsoft.com/office/drawing/2014/main" id="{40F1D3C1-4012-4EE8-9ACA-68C7A17B2AA4}"/>
              </a:ext>
            </a:extLst>
          </p:cNvPr>
          <p:cNvSpPr>
            <a:spLocks xmlns:a="http://schemas.openxmlformats.org/drawingml/2006/main" noGrp="1"/>
          </p:cNvSpPr>
          <p:nvPr/>
        </p:nvSpPr>
        <p:spPr>
          <a:xfrm xmlns:a="http://schemas.openxmlformats.org/drawingml/2006/main">
            <a:off x="857250" y="232410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3934"/>
          </a:bodyPr>
          <a:lstStyle xmlns:a="http://schemas.openxmlformats.org/drawingml/2006/main"/>
          <a:p xmlns:a="http://schemas.openxmlformats.org/drawingml/2006/main">
            <a:pPr algn="ctr">
              <a:lnSpc>
                <a:spcPct val="108000"/>
              </a:lnSpc>
              <a:buNone/>
              <a:defRPr sz="1725" b="1" i="0">
                <a:solidFill>
                  <a:srgbClr val="102A56"/>
                </a:solidFill>
                <a:latin typeface="Segoe UI"/>
                <a:ea typeface="Segoe UI"/>
                <a:cs typeface="Segoe UI"/>
              </a:defRPr>
            </a:pPr>
            <a:r>
              <a:rPr sz="1725" b="1" i="0">
                <a:solidFill>
                  <a:srgbClr val="102A56"/>
                </a:solidFill>
                <a:latin typeface="Segoe UI"/>
                <a:ea typeface="Segoe UI"/>
                <a:cs typeface="Segoe UI"/>
              </a:rPr>
              <a:t>Thu thập</a:t>
            </a:r>
          </a:p>
        </p:txBody>
      </p:sp>
      <p:sp>
        <p:nvSpPr>
          <p:cNvPr id="7" name="">
            <a:extLst xmlns:a="http://schemas.openxmlformats.org/drawingml/2006/main">
              <a:ext uri="{FF2B5EF4-FFF2-40B4-BE49-F238E27FC236}">
                <a16:creationId xmlns:a16="http://schemas.microsoft.com/office/drawing/2014/main" id="{0E626455-5C6F-4DCA-A9A5-6D5A8ACBAF4B}"/>
              </a:ext>
            </a:extLst>
          </p:cNvPr>
          <p:cNvSpPr>
            <a:spLocks xmlns:a="http://schemas.openxmlformats.org/drawingml/2006/main" noGrp="1"/>
          </p:cNvSpPr>
          <p:nvPr/>
        </p:nvSpPr>
        <p:spPr>
          <a:xfrm xmlns:a="http://schemas.openxmlformats.org/drawingml/2006/main">
            <a:off x="876300" y="2800350"/>
            <a:ext cx="200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0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Mục tiêu 20 người. Mỗi người 4 phiên trong ít nhất 3 ngày.</a:t>
            </a:r>
          </a:p>
        </p:txBody>
      </p:sp>
      <p:sp>
        <p:nvSpPr>
          <p:cNvPr id="8" name="">
            <a:extLst xmlns:a="http://schemas.openxmlformats.org/drawingml/2006/main">
              <a:ext uri="{FF2B5EF4-FFF2-40B4-BE49-F238E27FC236}">
                <a16:creationId xmlns:a16="http://schemas.microsoft.com/office/drawing/2014/main" id="{E1D93417-7D66-4BBF-8E31-8F8565943BB5}"/>
              </a:ext>
            </a:extLst>
          </p:cNvPr>
          <p:cNvSpPr>
            <a:spLocks xmlns:a="http://schemas.openxmlformats.org/drawingml/2006/main" noGrp="1"/>
          </p:cNvSpPr>
          <p:nvPr/>
        </p:nvSpPr>
        <p:spPr>
          <a:xfrm xmlns:a="http://schemas.openxmlformats.org/drawingml/2006/main">
            <a:off x="3467100" y="1638300"/>
            <a:ext cx="2381250" cy="2333625"/>
          </a:xfrm>
          <a:prstGeom xmlns:a="http://schemas.openxmlformats.org/drawingml/2006/main" prst="roundRect">
            <a:avLst>
              <a:gd name="adj" fmla="val 4898"/>
            </a:avLst>
          </a:prstGeom>
          <a:solidFill xmlns:a="http://schemas.openxmlformats.org/drawingml/2006/main">
            <a:srgbClr val="F7F9FC"/>
          </a:solidFill>
          <a:ln xmlns:a="http://schemas.openxmlformats.org/drawingml/2006/main" w="9525">
            <a:solidFill>
              <a:srgbClr val="D7E0EC"/>
            </a:solidFill>
            <a:prstDash val="solid"/>
          </a:ln>
        </p:spPr>
      </p:sp>
      <p:sp>
        <p:nvSpPr>
          <p:cNvPr id="9" name="">
            <a:extLst xmlns:a="http://schemas.openxmlformats.org/drawingml/2006/main">
              <a:ext uri="{FF2B5EF4-FFF2-40B4-BE49-F238E27FC236}">
                <a16:creationId xmlns:a16="http://schemas.microsoft.com/office/drawing/2014/main" id="{E1CF2425-7095-4CAE-8E41-792FA1C4E514}"/>
              </a:ext>
            </a:extLst>
          </p:cNvPr>
          <p:cNvSpPr>
            <a:spLocks xmlns:a="http://schemas.openxmlformats.org/drawingml/2006/main" noGrp="1"/>
          </p:cNvSpPr>
          <p:nvPr/>
        </p:nvSpPr>
        <p:spPr>
          <a:xfrm xmlns:a="http://schemas.openxmlformats.org/drawingml/2006/main">
            <a:off x="3619500" y="1790700"/>
            <a:ext cx="43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100" b="1" i="0">
                <a:solidFill>
                  <a:srgbClr val="2457C5"/>
                </a:solidFill>
                <a:latin typeface="Segoe UI"/>
                <a:ea typeface="Segoe UI"/>
                <a:cs typeface="Segoe UI"/>
              </a:defRPr>
            </a:pPr>
            <a:r>
              <a:rPr sz="2100" b="1" i="0">
                <a:solidFill>
                  <a:srgbClr val="2457C5"/>
                </a:solidFill>
                <a:latin typeface="Segoe UI"/>
                <a:ea typeface="Segoe UI"/>
                <a:cs typeface="Segoe UI"/>
              </a:rPr>
              <a:t>2</a:t>
            </a:r>
          </a:p>
        </p:txBody>
      </p:sp>
      <p:sp>
        <p:nvSpPr>
          <p:cNvPr id="10" name="">
            <a:extLst xmlns:a="http://schemas.openxmlformats.org/drawingml/2006/main">
              <a:ext uri="{FF2B5EF4-FFF2-40B4-BE49-F238E27FC236}">
                <a16:creationId xmlns:a16="http://schemas.microsoft.com/office/drawing/2014/main" id="{B84BC2FE-93EE-4C74-BB0A-A1C00B84BEC5}"/>
              </a:ext>
            </a:extLst>
          </p:cNvPr>
          <p:cNvSpPr>
            <a:spLocks xmlns:a="http://schemas.openxmlformats.org/drawingml/2006/main" noGrp="1"/>
          </p:cNvSpPr>
          <p:nvPr/>
        </p:nvSpPr>
        <p:spPr>
          <a:xfrm xmlns:a="http://schemas.openxmlformats.org/drawingml/2006/main">
            <a:off x="3638550" y="232410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3934"/>
          </a:bodyPr>
          <a:lstStyle xmlns:a="http://schemas.openxmlformats.org/drawingml/2006/main"/>
          <a:p xmlns:a="http://schemas.openxmlformats.org/drawingml/2006/main">
            <a:pPr algn="ctr">
              <a:lnSpc>
                <a:spcPct val="108000"/>
              </a:lnSpc>
              <a:buNone/>
              <a:defRPr sz="1725" b="1" i="0">
                <a:solidFill>
                  <a:srgbClr val="102A56"/>
                </a:solidFill>
                <a:latin typeface="Segoe UI"/>
                <a:ea typeface="Segoe UI"/>
                <a:cs typeface="Segoe UI"/>
              </a:defRPr>
            </a:pPr>
            <a:r>
              <a:rPr sz="1725" b="1" i="0">
                <a:solidFill>
                  <a:srgbClr val="102A56"/>
                </a:solidFill>
                <a:latin typeface="Segoe UI"/>
                <a:ea typeface="Segoe UI"/>
                <a:cs typeface="Segoe UI"/>
              </a:rPr>
              <a:t>Tạo hồ sơ</a:t>
            </a:r>
          </a:p>
        </p:txBody>
      </p:sp>
      <p:sp>
        <p:nvSpPr>
          <p:cNvPr id="11" name="">
            <a:extLst xmlns:a="http://schemas.openxmlformats.org/drawingml/2006/main">
              <a:ext uri="{FF2B5EF4-FFF2-40B4-BE49-F238E27FC236}">
                <a16:creationId xmlns:a16="http://schemas.microsoft.com/office/drawing/2014/main" id="{1629EE0D-524A-4895-ADCC-9410B0FAC9AE}"/>
              </a:ext>
            </a:extLst>
          </p:cNvPr>
          <p:cNvSpPr>
            <a:spLocks xmlns:a="http://schemas.openxmlformats.org/drawingml/2006/main" noGrp="1"/>
          </p:cNvSpPr>
          <p:nvPr/>
        </p:nvSpPr>
        <p:spPr>
          <a:xfrm xmlns:a="http://schemas.openxmlformats.org/drawingml/2006/main">
            <a:off x="3657600" y="2800350"/>
            <a:ext cx="200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0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Dùng các phiên đầu để tạo hồ sơ riêng cho từng người.</a:t>
            </a:r>
          </a:p>
        </p:txBody>
      </p:sp>
      <p:cxnSp>
        <p:nvCxnSpPr>
          <p:cNvPr id="37" name=""/>
          <p:cNvCxnSpPr>
            <a:stCxn xmlns:a="http://schemas.openxmlformats.org/drawingml/2006/main" id="4" idx="3"/>
            <a:endCxn xmlns:a="http://schemas.openxmlformats.org/drawingml/2006/main" id="8" idx="1"/>
          </p:cNvCxnSpPr>
          <p:nvPr/>
        </p:nvCxnSpPr>
        <p:spPr>
          <a:xfrm xmlns:a="http://schemas.openxmlformats.org/drawingml/2006/main">
            <a:off x="3067050" y="2805113"/>
            <a:ext cx="400050"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13" name="">
            <a:extLst xmlns:a="http://schemas.openxmlformats.org/drawingml/2006/main">
              <a:ext uri="{FF2B5EF4-FFF2-40B4-BE49-F238E27FC236}">
                <a16:creationId xmlns:a16="http://schemas.microsoft.com/office/drawing/2014/main" id="{E0AE5DE4-E98A-4080-AF74-50A8CA9063FD}"/>
              </a:ext>
            </a:extLst>
          </p:cNvPr>
          <p:cNvSpPr>
            <a:spLocks xmlns:a="http://schemas.openxmlformats.org/drawingml/2006/main" noGrp="1"/>
          </p:cNvSpPr>
          <p:nvPr/>
        </p:nvSpPr>
        <p:spPr>
          <a:xfrm xmlns:a="http://schemas.openxmlformats.org/drawingml/2006/main">
            <a:off x="6248400" y="1638300"/>
            <a:ext cx="2381250" cy="2333625"/>
          </a:xfrm>
          <a:prstGeom xmlns:a="http://schemas.openxmlformats.org/drawingml/2006/main" prst="roundRect">
            <a:avLst>
              <a:gd name="adj" fmla="val 4898"/>
            </a:avLst>
          </a:prstGeom>
          <a:solidFill xmlns:a="http://schemas.openxmlformats.org/drawingml/2006/main">
            <a:srgbClr val="F7F9FC"/>
          </a:solidFill>
          <a:ln xmlns:a="http://schemas.openxmlformats.org/drawingml/2006/main" w="9525">
            <a:solidFill>
              <a:srgbClr val="D7E0EC"/>
            </a:solidFill>
            <a:prstDash val="solid"/>
          </a:ln>
        </p:spPr>
      </p:sp>
      <p:sp>
        <p:nvSpPr>
          <p:cNvPr id="14" name="">
            <a:extLst xmlns:a="http://schemas.openxmlformats.org/drawingml/2006/main">
              <a:ext uri="{FF2B5EF4-FFF2-40B4-BE49-F238E27FC236}">
                <a16:creationId xmlns:a16="http://schemas.microsoft.com/office/drawing/2014/main" id="{83B67B24-DC54-40C8-A101-E58B2F60BFC0}"/>
              </a:ext>
            </a:extLst>
          </p:cNvPr>
          <p:cNvSpPr>
            <a:spLocks xmlns:a="http://schemas.openxmlformats.org/drawingml/2006/main" noGrp="1"/>
          </p:cNvSpPr>
          <p:nvPr/>
        </p:nvSpPr>
        <p:spPr>
          <a:xfrm xmlns:a="http://schemas.openxmlformats.org/drawingml/2006/main">
            <a:off x="6400800" y="1790700"/>
            <a:ext cx="43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100" b="1" i="0">
                <a:solidFill>
                  <a:srgbClr val="2457C5"/>
                </a:solidFill>
                <a:latin typeface="Segoe UI"/>
                <a:ea typeface="Segoe UI"/>
                <a:cs typeface="Segoe UI"/>
              </a:defRPr>
            </a:pPr>
            <a:r>
              <a:rPr sz="2100" b="1" i="0">
                <a:solidFill>
                  <a:srgbClr val="2457C5"/>
                </a:solidFill>
                <a:latin typeface="Segoe UI"/>
                <a:ea typeface="Segoe UI"/>
                <a:cs typeface="Segoe UI"/>
              </a:rPr>
              <a:t>3</a:t>
            </a:r>
          </a:p>
        </p:txBody>
      </p:sp>
      <p:sp>
        <p:nvSpPr>
          <p:cNvPr id="15" name="">
            <a:extLst xmlns:a="http://schemas.openxmlformats.org/drawingml/2006/main">
              <a:ext uri="{FF2B5EF4-FFF2-40B4-BE49-F238E27FC236}">
                <a16:creationId xmlns:a16="http://schemas.microsoft.com/office/drawing/2014/main" id="{28E05F43-6C8A-4460-91E5-C4102E949C37}"/>
              </a:ext>
            </a:extLst>
          </p:cNvPr>
          <p:cNvSpPr>
            <a:spLocks xmlns:a="http://schemas.openxmlformats.org/drawingml/2006/main" noGrp="1"/>
          </p:cNvSpPr>
          <p:nvPr/>
        </p:nvSpPr>
        <p:spPr>
          <a:xfrm xmlns:a="http://schemas.openxmlformats.org/drawingml/2006/main">
            <a:off x="6419850" y="232410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3934"/>
          </a:bodyPr>
          <a:lstStyle xmlns:a="http://schemas.openxmlformats.org/drawingml/2006/main"/>
          <a:p xmlns:a="http://schemas.openxmlformats.org/drawingml/2006/main">
            <a:pPr algn="ctr">
              <a:lnSpc>
                <a:spcPct val="108000"/>
              </a:lnSpc>
              <a:buNone/>
              <a:defRPr sz="1725" b="1" i="0">
                <a:solidFill>
                  <a:srgbClr val="102A56"/>
                </a:solidFill>
                <a:latin typeface="Segoe UI"/>
                <a:ea typeface="Segoe UI"/>
                <a:cs typeface="Segoe UI"/>
              </a:defRPr>
            </a:pPr>
            <a:r>
              <a:rPr sz="1725" b="1" i="0">
                <a:solidFill>
                  <a:srgbClr val="102A56"/>
                </a:solidFill>
                <a:latin typeface="Segoe UI"/>
                <a:ea typeface="Segoe UI"/>
                <a:cs typeface="Segoe UI"/>
              </a:rPr>
              <a:t>Hiệu chỉnh</a:t>
            </a:r>
          </a:p>
        </p:txBody>
      </p:sp>
      <p:sp>
        <p:nvSpPr>
          <p:cNvPr id="16" name="">
            <a:extLst xmlns:a="http://schemas.openxmlformats.org/drawingml/2006/main">
              <a:ext uri="{FF2B5EF4-FFF2-40B4-BE49-F238E27FC236}">
                <a16:creationId xmlns:a16="http://schemas.microsoft.com/office/drawing/2014/main" id="{FE043E73-15B4-4AD5-843D-79BDDBD1ABEC}"/>
              </a:ext>
            </a:extLst>
          </p:cNvPr>
          <p:cNvSpPr>
            <a:spLocks xmlns:a="http://schemas.openxmlformats.org/drawingml/2006/main" noGrp="1"/>
          </p:cNvSpPr>
          <p:nvPr/>
        </p:nvSpPr>
        <p:spPr>
          <a:xfrm xmlns:a="http://schemas.openxmlformats.org/drawingml/2006/main">
            <a:off x="6438900" y="2800350"/>
            <a:ext cx="200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0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Chọn λ, k, h₁ và h₂. Không dùng dữ liệu kiểm thử.</a:t>
            </a:r>
          </a:p>
        </p:txBody>
      </p:sp>
      <p:cxnSp>
        <p:nvCxnSpPr>
          <p:cNvPr id="42" name=""/>
          <p:cNvCxnSpPr>
            <a:stCxn xmlns:a="http://schemas.openxmlformats.org/drawingml/2006/main" id="8" idx="3"/>
            <a:endCxn xmlns:a="http://schemas.openxmlformats.org/drawingml/2006/main" id="13" idx="1"/>
          </p:cNvCxnSpPr>
          <p:nvPr/>
        </p:nvCxnSpPr>
        <p:spPr>
          <a:xfrm xmlns:a="http://schemas.openxmlformats.org/drawingml/2006/main">
            <a:off x="5848350" y="2805113"/>
            <a:ext cx="400050"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18" name="">
            <a:extLst xmlns:a="http://schemas.openxmlformats.org/drawingml/2006/main">
              <a:ext uri="{FF2B5EF4-FFF2-40B4-BE49-F238E27FC236}">
                <a16:creationId xmlns:a16="http://schemas.microsoft.com/office/drawing/2014/main" id="{17660003-7483-48F7-9B62-8C1DB9550E26}"/>
              </a:ext>
            </a:extLst>
          </p:cNvPr>
          <p:cNvSpPr>
            <a:spLocks xmlns:a="http://schemas.openxmlformats.org/drawingml/2006/main" noGrp="1"/>
          </p:cNvSpPr>
          <p:nvPr/>
        </p:nvSpPr>
        <p:spPr>
          <a:xfrm xmlns:a="http://schemas.openxmlformats.org/drawingml/2006/main">
            <a:off x="9029700" y="1638300"/>
            <a:ext cx="2381250" cy="2333625"/>
          </a:xfrm>
          <a:prstGeom xmlns:a="http://schemas.openxmlformats.org/drawingml/2006/main" prst="roundRect">
            <a:avLst>
              <a:gd name="adj" fmla="val 4898"/>
            </a:avLst>
          </a:prstGeom>
          <a:solidFill xmlns:a="http://schemas.openxmlformats.org/drawingml/2006/main">
            <a:srgbClr val="EAF8F4"/>
          </a:solidFill>
          <a:ln xmlns:a="http://schemas.openxmlformats.org/drawingml/2006/main" w="9525">
            <a:solidFill>
              <a:srgbClr val="B7DED1"/>
            </a:solidFill>
            <a:prstDash val="solid"/>
          </a:ln>
        </p:spPr>
      </p:sp>
      <p:sp>
        <p:nvSpPr>
          <p:cNvPr id="19" name="">
            <a:extLst xmlns:a="http://schemas.openxmlformats.org/drawingml/2006/main">
              <a:ext uri="{FF2B5EF4-FFF2-40B4-BE49-F238E27FC236}">
                <a16:creationId xmlns:a16="http://schemas.microsoft.com/office/drawing/2014/main" id="{43A04713-35D4-4B30-9650-E76EAF015638}"/>
              </a:ext>
            </a:extLst>
          </p:cNvPr>
          <p:cNvSpPr>
            <a:spLocks xmlns:a="http://schemas.openxmlformats.org/drawingml/2006/main" noGrp="1"/>
          </p:cNvSpPr>
          <p:nvPr/>
        </p:nvSpPr>
        <p:spPr>
          <a:xfrm xmlns:a="http://schemas.openxmlformats.org/drawingml/2006/main">
            <a:off x="9182100" y="1790700"/>
            <a:ext cx="43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2100" b="1" i="0">
                <a:solidFill>
                  <a:srgbClr val="2457C5"/>
                </a:solidFill>
                <a:latin typeface="Segoe UI"/>
                <a:ea typeface="Segoe UI"/>
                <a:cs typeface="Segoe UI"/>
              </a:defRPr>
            </a:pPr>
            <a:r>
              <a:rPr sz="2100" b="1" i="0">
                <a:solidFill>
                  <a:srgbClr val="2457C5"/>
                </a:solidFill>
                <a:latin typeface="Segoe UI"/>
                <a:ea typeface="Segoe UI"/>
                <a:cs typeface="Segoe UI"/>
              </a:rPr>
              <a:t>4</a:t>
            </a:r>
          </a:p>
        </p:txBody>
      </p:sp>
      <p:sp>
        <p:nvSpPr>
          <p:cNvPr id="20" name="">
            <a:extLst xmlns:a="http://schemas.openxmlformats.org/drawingml/2006/main">
              <a:ext uri="{FF2B5EF4-FFF2-40B4-BE49-F238E27FC236}">
                <a16:creationId xmlns:a16="http://schemas.microsoft.com/office/drawing/2014/main" id="{872A87CF-5FFD-4E04-84D0-5B6A49D61677}"/>
              </a:ext>
            </a:extLst>
          </p:cNvPr>
          <p:cNvSpPr>
            <a:spLocks xmlns:a="http://schemas.openxmlformats.org/drawingml/2006/main" noGrp="1"/>
          </p:cNvSpPr>
          <p:nvPr/>
        </p:nvSpPr>
        <p:spPr>
          <a:xfrm xmlns:a="http://schemas.openxmlformats.org/drawingml/2006/main">
            <a:off x="9201150" y="232410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3934"/>
          </a:bodyPr>
          <a:lstStyle xmlns:a="http://schemas.openxmlformats.org/drawingml/2006/main"/>
          <a:p xmlns:a="http://schemas.openxmlformats.org/drawingml/2006/main">
            <a:pPr algn="ctr">
              <a:lnSpc>
                <a:spcPct val="108000"/>
              </a:lnSpc>
              <a:buNone/>
              <a:defRPr sz="1725" b="1" i="0">
                <a:solidFill>
                  <a:srgbClr val="102A56"/>
                </a:solidFill>
                <a:latin typeface="Segoe UI"/>
                <a:ea typeface="Segoe UI"/>
                <a:cs typeface="Segoe UI"/>
              </a:defRPr>
            </a:pPr>
            <a:r>
              <a:rPr sz="1725" b="1" i="0">
                <a:solidFill>
                  <a:srgbClr val="102A56"/>
                </a:solidFill>
                <a:latin typeface="Segoe UI"/>
                <a:ea typeface="Segoe UI"/>
                <a:cs typeface="Segoe UI"/>
              </a:rPr>
              <a:t>Kiểm thử theo ngày</a:t>
            </a:r>
          </a:p>
        </p:txBody>
      </p:sp>
      <p:sp>
        <p:nvSpPr>
          <p:cNvPr id="21" name="">
            <a:extLst xmlns:a="http://schemas.openxmlformats.org/drawingml/2006/main">
              <a:ext uri="{FF2B5EF4-FFF2-40B4-BE49-F238E27FC236}">
                <a16:creationId xmlns:a16="http://schemas.microsoft.com/office/drawing/2014/main" id="{E9A14EFB-7F41-4F5D-A324-199E4304A01F}"/>
              </a:ext>
            </a:extLst>
          </p:cNvPr>
          <p:cNvSpPr>
            <a:spLocks xmlns:a="http://schemas.openxmlformats.org/drawingml/2006/main" noGrp="1"/>
          </p:cNvSpPr>
          <p:nvPr/>
        </p:nvSpPr>
        <p:spPr>
          <a:xfrm xmlns:a="http://schemas.openxmlformats.org/drawingml/2006/main">
            <a:off x="9220200" y="2800350"/>
            <a:ext cx="200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10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Giữ nguyên một ngày hoặc phiên sau cùng để đánh giá độ trôi.</a:t>
            </a:r>
          </a:p>
        </p:txBody>
      </p:sp>
      <p:cxnSp>
        <p:nvCxnSpPr>
          <p:cNvPr id="47" name=""/>
          <p:cNvCxnSpPr>
            <a:stCxn xmlns:a="http://schemas.openxmlformats.org/drawingml/2006/main" id="13" idx="3"/>
            <a:endCxn xmlns:a="http://schemas.openxmlformats.org/drawingml/2006/main" id="18" idx="1"/>
          </p:cNvCxnSpPr>
          <p:nvPr/>
        </p:nvCxnSpPr>
        <p:spPr>
          <a:xfrm xmlns:a="http://schemas.openxmlformats.org/drawingml/2006/main">
            <a:off x="8629650" y="2805113"/>
            <a:ext cx="400050"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23" name="">
            <a:extLst xmlns:a="http://schemas.openxmlformats.org/drawingml/2006/main">
              <a:ext uri="{FF2B5EF4-FFF2-40B4-BE49-F238E27FC236}">
                <a16:creationId xmlns:a16="http://schemas.microsoft.com/office/drawing/2014/main" id="{F0106665-E8AF-4810-BC64-51F55B7BF2B2}"/>
              </a:ext>
            </a:extLst>
          </p:cNvPr>
          <p:cNvSpPr>
            <a:spLocks xmlns:a="http://schemas.openxmlformats.org/drawingml/2006/main" noGrp="1"/>
          </p:cNvSpPr>
          <p:nvPr/>
        </p:nvSpPr>
        <p:spPr>
          <a:xfrm xmlns:a="http://schemas.openxmlformats.org/drawingml/2006/main">
            <a:off x="685800" y="45529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0021"/>
          </a:bodyPr>
          <a:lstStyle xmlns:a="http://schemas.openxmlformats.org/drawingml/2006/main"/>
          <a:p xmlns:a="http://schemas.openxmlformats.org/drawingml/2006/main">
            <a:pPr algn="l">
              <a:lnSpc>
                <a:spcPct val="108000"/>
              </a:lnSpc>
              <a:buNone/>
              <a:defRPr sz="1800" b="1" i="0">
                <a:solidFill>
                  <a:srgbClr val="102A56"/>
                </a:solidFill>
                <a:latin typeface="Segoe UI"/>
                <a:ea typeface="Segoe UI"/>
                <a:cs typeface="Segoe UI"/>
              </a:defRPr>
            </a:pPr>
            <a:r>
              <a:rPr sz="1800" b="1" i="0">
                <a:solidFill>
                  <a:srgbClr val="102A56"/>
                </a:solidFill>
                <a:latin typeface="Segoe UI"/>
                <a:ea typeface="Segoe UI"/>
                <a:cs typeface="Segoe UI"/>
              </a:rPr>
              <a:t>Nguyên tắc chống rò rỉ dữ liệu</a:t>
            </a:r>
          </a:p>
        </p:txBody>
      </p:sp>
      <p:sp>
        <p:nvSpPr>
          <p:cNvPr id="24" name="">
            <a:extLst xmlns:a="http://schemas.openxmlformats.org/drawingml/2006/main">
              <a:ext uri="{FF2B5EF4-FFF2-40B4-BE49-F238E27FC236}">
                <a16:creationId xmlns:a16="http://schemas.microsoft.com/office/drawing/2014/main" id="{3EDC5224-3D0C-4498-ABD2-D05020D4D227}"/>
              </a:ext>
            </a:extLst>
          </p:cNvPr>
          <p:cNvSpPr>
            <a:spLocks xmlns:a="http://schemas.openxmlformats.org/drawingml/2006/main" noGrp="1"/>
          </p:cNvSpPr>
          <p:nvPr/>
        </p:nvSpPr>
        <p:spPr>
          <a:xfrm xmlns:a="http://schemas.openxmlformats.org/drawingml/2006/main">
            <a:off x="685800" y="5010150"/>
            <a:ext cx="1028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Mọi cửa sổ từ cùng một phiên nằm trong cùng một tập.</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Chuẩn hóa, chọn tham số và chọn ngưỡng chỉ dùng tập huấn luyện và hiệu chỉnh.</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Tính kết quả theo từng người trước khi tổng hợp toàn bộ nhóm.</a:t>
            </a:r>
          </a:p>
        </p:txBody>
      </p:sp>
      <p:sp>
        <p:nvSpPr>
          <p:cNvPr id="25" name="">
            <a:extLst xmlns:a="http://schemas.openxmlformats.org/drawingml/2006/main">
              <a:ext uri="{FF2B5EF4-FFF2-40B4-BE49-F238E27FC236}">
                <a16:creationId xmlns:a16="http://schemas.microsoft.com/office/drawing/2014/main" id="{ABE3997E-3475-4440-9614-EE5B651C16CC}"/>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78429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AAF3354-470E-44B6-834E-0438A60520EE}"/>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Cấu hình so sánh và kịch bản tấn công</a:t>
            </a:r>
          </a:p>
        </p:txBody>
      </p:sp>
      <p:sp>
        <p:nvSpPr>
          <p:cNvPr id="2" name="">
            <a:extLst xmlns:a="http://schemas.openxmlformats.org/drawingml/2006/main">
              <a:ext uri="{FF2B5EF4-FFF2-40B4-BE49-F238E27FC236}">
                <a16:creationId xmlns:a16="http://schemas.microsoft.com/office/drawing/2014/main" id="{D46BAB3F-07AB-42F3-B4DC-8C4FB9D505AC}"/>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6C3767DD-D2C8-4702-8A5F-0F2B9277A719}"/>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09</a:t>
            </a:r>
          </a:p>
        </p:txBody>
      </p:sp>
      <p:graphicFrame>
        <p:nvGraphicFramePr>
          <p:cNvPr id="24" name=""/>
          <p:cNvGraphicFramePr/>
          <p:nvPr/>
        </p:nvGraphicFramePr>
        <p:xfrm>
          <a:off xmlns:a="http://schemas.openxmlformats.org/drawingml/2006/main" x="666750" y="1352550"/>
          <a:ext xmlns:a="http://schemas.openxmlformats.org/drawingml/2006/main" cx="6762750" cy="3543300"/>
        </p:xfrm>
        <a:graphic xmlns:a="http://schemas.openxmlformats.org/drawingml/2006/main">
          <a:graphicData uri="http://schemas.openxmlformats.org/drawingml/2006/table">
            <a:tbl>
              <a:tblPr/>
              <a:tblGrid>
                <a:gridCol w="819150"/>
                <a:gridCol w="3333750"/>
                <a:gridCol w="2609850"/>
              </a:tblGrid>
              <a:tr h="708660">
                <a:tc>
                  <a:txBody>
                    <a:bodyPr/>
                    <a:lstStyle/>
                    <a:p>
                      <a:r>
                        <a:t>Mã</a:t>
                      </a:r>
                    </a:p>
                  </a:txBody>
                  <a:tcPr marL="91440" marR="91440" marT="45720" marB="45720"/>
                </a:tc>
                <a:tc>
                  <a:txBody>
                    <a:bodyPr/>
                    <a:lstStyle/>
                    <a:p>
                      <a:r>
                        <a:t>Cách ra quyết định</a:t>
                      </a:r>
                    </a:p>
                  </a:txBody>
                  <a:tcPr marL="91440" marR="91440" marT="45720" marB="45720"/>
                </a:tc>
                <a:tc>
                  <a:txBody>
                    <a:bodyPr/>
                    <a:lstStyle/>
                    <a:p>
                      <a:r>
                        <a:t>Mục đích so sánh</a:t>
                      </a:r>
                    </a:p>
                  </a:txBody>
                  <a:tcPr marL="91440" marR="91440" marT="45720" marB="45720"/>
                </a:tc>
              </a:tr>
              <a:tr h="708660">
                <a:tc>
                  <a:txBody>
                    <a:bodyPr/>
                    <a:lstStyle/>
                    <a:p>
                      <a:r>
                        <a:t>B0</a:t>
                      </a:r>
                    </a:p>
                  </a:txBody>
                  <a:tcPr marL="91440" marR="91440" marT="45720" marB="45720"/>
                </a:tc>
                <a:tc>
                  <a:txBody>
                    <a:bodyPr/>
                    <a:lstStyle/>
                    <a:p>
                      <a:r>
                        <a:t>Một cửa sổ, ngưỡng cố định</a:t>
                      </a:r>
                    </a:p>
                  </a:txBody>
                  <a:tcPr marL="91440" marR="91440" marT="45720" marB="45720"/>
                </a:tc>
                <a:tc>
                  <a:txBody>
                    <a:bodyPr/>
                    <a:lstStyle/>
                    <a:p>
                      <a:r>
                        <a:t>Mốc so sánh đơn giản</a:t>
                      </a:r>
                    </a:p>
                  </a:txBody>
                  <a:tcPr marL="91440" marR="91440" marT="45720" marB="45720"/>
                </a:tc>
              </a:tr>
              <a:tr h="708660">
                <a:tc>
                  <a:txBody>
                    <a:bodyPr/>
                    <a:lstStyle/>
                    <a:p>
                      <a:r>
                        <a:t>B1</a:t>
                      </a:r>
                    </a:p>
                  </a:txBody>
                  <a:tcPr marL="91440" marR="91440" marT="45720" marB="45720"/>
                </a:tc>
                <a:tc>
                  <a:txBody>
                    <a:bodyPr/>
                    <a:lstStyle/>
                    <a:p>
                      <a:r>
                        <a:t>CUSUM có hệ số quên, ngưỡng cố định</a:t>
                      </a:r>
                    </a:p>
                  </a:txBody>
                  <a:tcPr marL="91440" marR="91440" marT="45720" marB="45720"/>
                </a:tc>
                <a:tc>
                  <a:txBody>
                    <a:bodyPr/>
                    <a:lstStyle/>
                    <a:p>
                      <a:r>
                        <a:t>Tác dụng của cộng dồn theo thời gian</a:t>
                      </a:r>
                    </a:p>
                  </a:txBody>
                  <a:tcPr marL="91440" marR="91440" marT="45720" marB="45720"/>
                </a:tc>
              </a:tr>
              <a:tr h="708660">
                <a:tc>
                  <a:txBody>
                    <a:bodyPr/>
                    <a:lstStyle/>
                    <a:p>
                      <a:r>
                        <a:t>P1</a:t>
                      </a:r>
                    </a:p>
                  </a:txBody>
                  <a:tcPr marL="91440" marR="91440" marT="45720" marB="45720"/>
                </a:tc>
                <a:tc>
                  <a:txBody>
                    <a:bodyPr/>
                    <a:lstStyle/>
                    <a:p>
                      <a:r>
                        <a:t>CUSUM có hệ số quên, ngưỡng riêng cho từng người</a:t>
                      </a:r>
                    </a:p>
                  </a:txBody>
                  <a:tcPr marL="91440" marR="91440" marT="45720" marB="45720"/>
                </a:tc>
                <a:tc>
                  <a:txBody>
                    <a:bodyPr/>
                    <a:lstStyle/>
                    <a:p>
                      <a:r>
                        <a:t>Tác dụng của ngưỡng thích ứng</a:t>
                      </a:r>
                    </a:p>
                  </a:txBody>
                  <a:tcPr marL="91440" marR="91440" marT="45720" marB="45720"/>
                </a:tc>
              </a:tr>
              <a:tr h="708660">
                <a:tc>
                  <a:txBody>
                    <a:bodyPr/>
                    <a:lstStyle/>
                    <a:p>
                      <a:r>
                        <a:t>P2</a:t>
                      </a:r>
                    </a:p>
                  </a:txBody>
                  <a:tcPr marL="91440" marR="91440" marT="45720" marB="45720"/>
                </a:tc>
                <a:tc>
                  <a:txBody>
                    <a:bodyPr/>
                    <a:lstStyle/>
                    <a:p>
                      <a:r>
                        <a:t>P1 và cập nhật hồ sơ sau MFA</a:t>
                      </a:r>
                    </a:p>
                  </a:txBody>
                  <a:tcPr marL="91440" marR="91440" marT="45720" marB="45720"/>
                </a:tc>
                <a:tc>
                  <a:txBody>
                    <a:bodyPr/>
                    <a:lstStyle/>
                    <a:p>
                      <a:r>
                        <a:t>Khả năng bù độ trôi qua các ngày</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2F103B0-7433-4C4F-9A25-8E6732499407}"/>
              </a:ext>
            </a:extLst>
          </p:cNvPr>
          <p:cNvSpPr>
            <a:spLocks xmlns:a="http://schemas.openxmlformats.org/drawingml/2006/main" noGrp="1"/>
          </p:cNvSpPr>
          <p:nvPr/>
        </p:nvSpPr>
        <p:spPr>
          <a:xfrm xmlns:a="http://schemas.openxmlformats.org/drawingml/2006/main">
            <a:off x="8001000" y="1352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6451"/>
          </a:bodyPr>
          <a:lstStyle xmlns:a="http://schemas.openxmlformats.org/drawingml/2006/main"/>
          <a:p xmlns:a="http://schemas.openxmlformats.org/drawingml/2006/main">
            <a:pPr algn="l">
              <a:lnSpc>
                <a:spcPct val="108000"/>
              </a:lnSpc>
              <a:buNone/>
              <a:defRPr sz="1800" b="1" i="0">
                <a:solidFill>
                  <a:srgbClr val="102A56"/>
                </a:solidFill>
                <a:latin typeface="Segoe UI"/>
                <a:ea typeface="Segoe UI"/>
                <a:cs typeface="Segoe UI"/>
              </a:defRPr>
            </a:pPr>
            <a:r>
              <a:rPr sz="1800" b="1" i="0">
                <a:solidFill>
                  <a:srgbClr val="102A56"/>
                </a:solidFill>
                <a:latin typeface="Segoe UI"/>
                <a:ea typeface="Segoe UI"/>
                <a:cs typeface="Segoe UI"/>
              </a:rPr>
              <a:t>Bốn kịch bản tấn công</a:t>
            </a:r>
          </a:p>
        </p:txBody>
      </p:sp>
      <p:sp>
        <p:nvSpPr>
          <p:cNvPr id="6" name="">
            <a:extLst xmlns:a="http://schemas.openxmlformats.org/drawingml/2006/main">
              <a:ext uri="{FF2B5EF4-FFF2-40B4-BE49-F238E27FC236}">
                <a16:creationId xmlns:a16="http://schemas.microsoft.com/office/drawing/2014/main" id="{2E3F5C13-29B7-45CC-B5BD-0474E6208D5A}"/>
              </a:ext>
            </a:extLst>
          </p:cNvPr>
          <p:cNvSpPr>
            <a:spLocks xmlns:a="http://schemas.openxmlformats.org/drawingml/2006/main" noGrp="1"/>
          </p:cNvSpPr>
          <p:nvPr/>
        </p:nvSpPr>
        <p:spPr>
          <a:xfrm xmlns:a="http://schemas.openxmlformats.org/drawingml/2006/main">
            <a:off x="7962900" y="1847850"/>
            <a:ext cx="3429000" cy="571500"/>
          </a:xfrm>
          <a:prstGeom xmlns:a="http://schemas.openxmlformats.org/drawingml/2006/main" prst="roundRect">
            <a:avLst>
              <a:gd name="adj" fmla="val 13333"/>
            </a:avLst>
          </a:prstGeom>
          <a:solidFill xmlns:a="http://schemas.openxmlformats.org/drawingml/2006/main">
            <a:srgbClr val="F7F9FC"/>
          </a:solidFill>
          <a:ln xmlns:a="http://schemas.openxmlformats.org/drawingml/2006/main" w="9525">
            <a:solidFill>
              <a:srgbClr val="D7E0EC"/>
            </a:solidFill>
            <a:prstDash val="solid"/>
          </a:ln>
        </p:spPr>
      </p:sp>
      <p:sp>
        <p:nvSpPr>
          <p:cNvPr id="7" name="">
            <a:extLst xmlns:a="http://schemas.openxmlformats.org/drawingml/2006/main">
              <a:ext uri="{FF2B5EF4-FFF2-40B4-BE49-F238E27FC236}">
                <a16:creationId xmlns:a16="http://schemas.microsoft.com/office/drawing/2014/main" id="{5CEB3704-2C2A-483F-8533-055A5D1EFFD8}"/>
              </a:ext>
            </a:extLst>
          </p:cNvPr>
          <p:cNvSpPr>
            <a:spLocks xmlns:a="http://schemas.openxmlformats.org/drawingml/2006/main" noGrp="1"/>
          </p:cNvSpPr>
          <p:nvPr/>
        </p:nvSpPr>
        <p:spPr>
          <a:xfrm xmlns:a="http://schemas.openxmlformats.org/drawingml/2006/main">
            <a:off x="8096250" y="19716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ctr">
              <a:lnSpc>
                <a:spcPct val="108000"/>
              </a:lnSpc>
              <a:buNone/>
              <a:defRPr sz="1425" b="1" i="0">
                <a:solidFill>
                  <a:srgbClr val="2457C5"/>
                </a:solidFill>
                <a:latin typeface="Segoe UI"/>
                <a:ea typeface="Segoe UI"/>
                <a:cs typeface="Segoe UI"/>
              </a:defRPr>
            </a:pPr>
            <a:r>
              <a:rPr sz="1425" b="1" i="0">
                <a:solidFill>
                  <a:srgbClr val="2457C5"/>
                </a:solidFill>
                <a:latin typeface="Segoe UI"/>
                <a:ea typeface="Segoe UI"/>
                <a:cs typeface="Segoe UI"/>
              </a:rPr>
              <a:t>A1</a:t>
            </a:r>
          </a:p>
        </p:txBody>
      </p:sp>
      <p:sp>
        <p:nvSpPr>
          <p:cNvPr id="8" name="">
            <a:extLst xmlns:a="http://schemas.openxmlformats.org/drawingml/2006/main">
              <a:ext uri="{FF2B5EF4-FFF2-40B4-BE49-F238E27FC236}">
                <a16:creationId xmlns:a16="http://schemas.microsoft.com/office/drawing/2014/main" id="{A82BAB14-DEAD-40E9-9D10-C7F071E67BE3}"/>
              </a:ext>
            </a:extLst>
          </p:cNvPr>
          <p:cNvSpPr>
            <a:spLocks xmlns:a="http://schemas.openxmlformats.org/drawingml/2006/main" noGrp="1"/>
          </p:cNvSpPr>
          <p:nvPr/>
        </p:nvSpPr>
        <p:spPr>
          <a:xfrm xmlns:a="http://schemas.openxmlformats.org/drawingml/2006/main">
            <a:off x="8686800" y="19335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Người lạ gõ tự nhiên</a:t>
            </a:r>
          </a:p>
        </p:txBody>
      </p:sp>
      <p:sp>
        <p:nvSpPr>
          <p:cNvPr id="9" name="">
            <a:extLst xmlns:a="http://schemas.openxmlformats.org/drawingml/2006/main">
              <a:ext uri="{FF2B5EF4-FFF2-40B4-BE49-F238E27FC236}">
                <a16:creationId xmlns:a16="http://schemas.microsoft.com/office/drawing/2014/main" id="{1EAA8BE8-C0E5-4138-94E3-B26B705BF9B1}"/>
              </a:ext>
            </a:extLst>
          </p:cNvPr>
          <p:cNvSpPr>
            <a:spLocks xmlns:a="http://schemas.openxmlformats.org/drawingml/2006/main" noGrp="1"/>
          </p:cNvSpPr>
          <p:nvPr/>
        </p:nvSpPr>
        <p:spPr>
          <a:xfrm xmlns:a="http://schemas.openxmlformats.org/drawingml/2006/main">
            <a:off x="7962900" y="2590800"/>
            <a:ext cx="3429000" cy="571500"/>
          </a:xfrm>
          <a:prstGeom xmlns:a="http://schemas.openxmlformats.org/drawingml/2006/main" prst="roundRect">
            <a:avLst>
              <a:gd name="adj" fmla="val 13333"/>
            </a:avLst>
          </a:prstGeom>
          <a:solidFill xmlns:a="http://schemas.openxmlformats.org/drawingml/2006/main">
            <a:srgbClr val="F7F9FC"/>
          </a:solidFill>
          <a:ln xmlns:a="http://schemas.openxmlformats.org/drawingml/2006/main" w="9525">
            <a:solidFill>
              <a:srgbClr val="D7E0EC"/>
            </a:solidFill>
            <a:prstDash val="solid"/>
          </a:ln>
        </p:spPr>
      </p:sp>
      <p:sp>
        <p:nvSpPr>
          <p:cNvPr id="10" name="">
            <a:extLst xmlns:a="http://schemas.openxmlformats.org/drawingml/2006/main">
              <a:ext uri="{FF2B5EF4-FFF2-40B4-BE49-F238E27FC236}">
                <a16:creationId xmlns:a16="http://schemas.microsoft.com/office/drawing/2014/main" id="{5256FA8E-DD04-48CA-9DEC-F2B7BCB5356E}"/>
              </a:ext>
            </a:extLst>
          </p:cNvPr>
          <p:cNvSpPr>
            <a:spLocks xmlns:a="http://schemas.openxmlformats.org/drawingml/2006/main" noGrp="1"/>
          </p:cNvSpPr>
          <p:nvPr/>
        </p:nvSpPr>
        <p:spPr>
          <a:xfrm xmlns:a="http://schemas.openxmlformats.org/drawingml/2006/main">
            <a:off x="8096250" y="27146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ctr">
              <a:lnSpc>
                <a:spcPct val="108000"/>
              </a:lnSpc>
              <a:buNone/>
              <a:defRPr sz="1425" b="1" i="0">
                <a:solidFill>
                  <a:srgbClr val="2457C5"/>
                </a:solidFill>
                <a:latin typeface="Segoe UI"/>
                <a:ea typeface="Segoe UI"/>
                <a:cs typeface="Segoe UI"/>
              </a:defRPr>
            </a:pPr>
            <a:r>
              <a:rPr sz="1425" b="1" i="0">
                <a:solidFill>
                  <a:srgbClr val="2457C5"/>
                </a:solidFill>
                <a:latin typeface="Segoe UI"/>
                <a:ea typeface="Segoe UI"/>
                <a:cs typeface="Segoe UI"/>
              </a:rPr>
              <a:t>A2</a:t>
            </a:r>
          </a:p>
        </p:txBody>
      </p:sp>
      <p:sp>
        <p:nvSpPr>
          <p:cNvPr id="11" name="">
            <a:extLst xmlns:a="http://schemas.openxmlformats.org/drawingml/2006/main">
              <a:ext uri="{FF2B5EF4-FFF2-40B4-BE49-F238E27FC236}">
                <a16:creationId xmlns:a16="http://schemas.microsoft.com/office/drawing/2014/main" id="{D72BB7AC-C3A1-4EB9-8751-A448D74C0C57}"/>
              </a:ext>
            </a:extLst>
          </p:cNvPr>
          <p:cNvSpPr>
            <a:spLocks xmlns:a="http://schemas.openxmlformats.org/drawingml/2006/main" noGrp="1"/>
          </p:cNvSpPr>
          <p:nvPr/>
        </p:nvSpPr>
        <p:spPr>
          <a:xfrm xmlns:a="http://schemas.openxmlformats.org/drawingml/2006/main">
            <a:off x="8686800" y="267652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Người lạ biết nội dung</a:t>
            </a:r>
          </a:p>
        </p:txBody>
      </p:sp>
      <p:sp>
        <p:nvSpPr>
          <p:cNvPr id="12" name="">
            <a:extLst xmlns:a="http://schemas.openxmlformats.org/drawingml/2006/main">
              <a:ext uri="{FF2B5EF4-FFF2-40B4-BE49-F238E27FC236}">
                <a16:creationId xmlns:a16="http://schemas.microsoft.com/office/drawing/2014/main" id="{FE728420-B0D3-4E5B-9A75-5FD538FBAC3F}"/>
              </a:ext>
            </a:extLst>
          </p:cNvPr>
          <p:cNvSpPr>
            <a:spLocks xmlns:a="http://schemas.openxmlformats.org/drawingml/2006/main" noGrp="1"/>
          </p:cNvSpPr>
          <p:nvPr/>
        </p:nvSpPr>
        <p:spPr>
          <a:xfrm xmlns:a="http://schemas.openxmlformats.org/drawingml/2006/main">
            <a:off x="7962900" y="3333750"/>
            <a:ext cx="3429000" cy="571500"/>
          </a:xfrm>
          <a:prstGeom xmlns:a="http://schemas.openxmlformats.org/drawingml/2006/main" prst="roundRect">
            <a:avLst>
              <a:gd name="adj" fmla="val 13333"/>
            </a:avLst>
          </a:prstGeom>
          <a:solidFill xmlns:a="http://schemas.openxmlformats.org/drawingml/2006/main">
            <a:srgbClr val="F7F9FC"/>
          </a:solidFill>
          <a:ln xmlns:a="http://schemas.openxmlformats.org/drawingml/2006/main" w="9525">
            <a:solidFill>
              <a:srgbClr val="D7E0EC"/>
            </a:solidFill>
            <a:prstDash val="solid"/>
          </a:ln>
        </p:spPr>
      </p:sp>
      <p:sp>
        <p:nvSpPr>
          <p:cNvPr id="13" name="">
            <a:extLst xmlns:a="http://schemas.openxmlformats.org/drawingml/2006/main">
              <a:ext uri="{FF2B5EF4-FFF2-40B4-BE49-F238E27FC236}">
                <a16:creationId xmlns:a16="http://schemas.microsoft.com/office/drawing/2014/main" id="{175280EA-BC0A-451E-AF22-5156BF5DE265}"/>
              </a:ext>
            </a:extLst>
          </p:cNvPr>
          <p:cNvSpPr>
            <a:spLocks xmlns:a="http://schemas.openxmlformats.org/drawingml/2006/main" noGrp="1"/>
          </p:cNvSpPr>
          <p:nvPr/>
        </p:nvSpPr>
        <p:spPr>
          <a:xfrm xmlns:a="http://schemas.openxmlformats.org/drawingml/2006/main">
            <a:off x="8096250" y="3457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ctr">
              <a:lnSpc>
                <a:spcPct val="108000"/>
              </a:lnSpc>
              <a:buNone/>
              <a:defRPr sz="1425" b="1" i="0">
                <a:solidFill>
                  <a:srgbClr val="2457C5"/>
                </a:solidFill>
                <a:latin typeface="Segoe UI"/>
                <a:ea typeface="Segoe UI"/>
                <a:cs typeface="Segoe UI"/>
              </a:defRPr>
            </a:pPr>
            <a:r>
              <a:rPr sz="1425" b="1" i="0">
                <a:solidFill>
                  <a:srgbClr val="2457C5"/>
                </a:solidFill>
                <a:latin typeface="Segoe UI"/>
                <a:ea typeface="Segoe UI"/>
                <a:cs typeface="Segoe UI"/>
              </a:rPr>
              <a:t>A3</a:t>
            </a:r>
          </a:p>
        </p:txBody>
      </p:sp>
      <p:sp>
        <p:nvSpPr>
          <p:cNvPr id="14" name="">
            <a:extLst xmlns:a="http://schemas.openxmlformats.org/drawingml/2006/main">
              <a:ext uri="{FF2B5EF4-FFF2-40B4-BE49-F238E27FC236}">
                <a16:creationId xmlns:a16="http://schemas.microsoft.com/office/drawing/2014/main" id="{56AC1E7E-39E0-4862-96D3-10208082C760}"/>
              </a:ext>
            </a:extLst>
          </p:cNvPr>
          <p:cNvSpPr>
            <a:spLocks xmlns:a="http://schemas.openxmlformats.org/drawingml/2006/main" noGrp="1"/>
          </p:cNvSpPr>
          <p:nvPr/>
        </p:nvSpPr>
        <p:spPr>
          <a:xfrm xmlns:a="http://schemas.openxmlformats.org/drawingml/2006/main">
            <a:off x="8686800" y="341947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Người lạ luyện bắt chước</a:t>
            </a:r>
          </a:p>
        </p:txBody>
      </p:sp>
      <p:sp>
        <p:nvSpPr>
          <p:cNvPr id="15" name="">
            <a:extLst xmlns:a="http://schemas.openxmlformats.org/drawingml/2006/main">
              <a:ext uri="{FF2B5EF4-FFF2-40B4-BE49-F238E27FC236}">
                <a16:creationId xmlns:a16="http://schemas.microsoft.com/office/drawing/2014/main" id="{EAC14003-4119-4631-A755-BD5221E0A34E}"/>
              </a:ext>
            </a:extLst>
          </p:cNvPr>
          <p:cNvSpPr>
            <a:spLocks xmlns:a="http://schemas.openxmlformats.org/drawingml/2006/main" noGrp="1"/>
          </p:cNvSpPr>
          <p:nvPr/>
        </p:nvSpPr>
        <p:spPr>
          <a:xfrm xmlns:a="http://schemas.openxmlformats.org/drawingml/2006/main">
            <a:off x="7962900" y="4076700"/>
            <a:ext cx="3429000" cy="571500"/>
          </a:xfrm>
          <a:prstGeom xmlns:a="http://schemas.openxmlformats.org/drawingml/2006/main" prst="roundRect">
            <a:avLst>
              <a:gd name="adj" fmla="val 13333"/>
            </a:avLst>
          </a:prstGeom>
          <a:solidFill xmlns:a="http://schemas.openxmlformats.org/drawingml/2006/main">
            <a:srgbClr val="FCEDEF"/>
          </a:solidFill>
          <a:ln xmlns:a="http://schemas.openxmlformats.org/drawingml/2006/main" w="9525">
            <a:solidFill>
              <a:srgbClr val="E6B6BD"/>
            </a:solidFill>
            <a:prstDash val="solid"/>
          </a:ln>
        </p:spPr>
      </p:sp>
      <p:sp>
        <p:nvSpPr>
          <p:cNvPr id="16" name="">
            <a:extLst xmlns:a="http://schemas.openxmlformats.org/drawingml/2006/main">
              <a:ext uri="{FF2B5EF4-FFF2-40B4-BE49-F238E27FC236}">
                <a16:creationId xmlns:a16="http://schemas.microsoft.com/office/drawing/2014/main" id="{640855AB-A3BD-4D1B-88B8-FD24DD2256DD}"/>
              </a:ext>
            </a:extLst>
          </p:cNvPr>
          <p:cNvSpPr>
            <a:spLocks xmlns:a="http://schemas.openxmlformats.org/drawingml/2006/main" noGrp="1"/>
          </p:cNvSpPr>
          <p:nvPr/>
        </p:nvSpPr>
        <p:spPr>
          <a:xfrm xmlns:a="http://schemas.openxmlformats.org/drawingml/2006/main">
            <a:off x="8096250" y="4200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7466"/>
          </a:bodyPr>
          <a:lstStyle xmlns:a="http://schemas.openxmlformats.org/drawingml/2006/main"/>
          <a:p xmlns:a="http://schemas.openxmlformats.org/drawingml/2006/main">
            <a:pPr algn="ctr">
              <a:lnSpc>
                <a:spcPct val="108000"/>
              </a:lnSpc>
              <a:buNone/>
              <a:defRPr sz="1425" b="1" i="0">
                <a:solidFill>
                  <a:srgbClr val="B83C48"/>
                </a:solidFill>
                <a:latin typeface="Segoe UI"/>
                <a:ea typeface="Segoe UI"/>
                <a:cs typeface="Segoe UI"/>
              </a:defRPr>
            </a:pPr>
            <a:r>
              <a:rPr sz="1425" b="1" i="0">
                <a:solidFill>
                  <a:srgbClr val="B83C48"/>
                </a:solidFill>
                <a:latin typeface="Segoe UI"/>
                <a:ea typeface="Segoe UI"/>
                <a:cs typeface="Segoe UI"/>
              </a:rPr>
              <a:t>A4</a:t>
            </a:r>
          </a:p>
        </p:txBody>
      </p:sp>
      <p:sp>
        <p:nvSpPr>
          <p:cNvPr id="17" name="">
            <a:extLst xmlns:a="http://schemas.openxmlformats.org/drawingml/2006/main">
              <a:ext uri="{FF2B5EF4-FFF2-40B4-BE49-F238E27FC236}">
                <a16:creationId xmlns:a16="http://schemas.microsoft.com/office/drawing/2014/main" id="{9EBAF816-69E8-4836-B64B-E03B9015FB9C}"/>
              </a:ext>
            </a:extLst>
          </p:cNvPr>
          <p:cNvSpPr>
            <a:spLocks xmlns:a="http://schemas.openxmlformats.org/drawingml/2006/main" noGrp="1"/>
          </p:cNvSpPr>
          <p:nvPr/>
        </p:nvSpPr>
        <p:spPr>
          <a:xfrm xmlns:a="http://schemas.openxmlformats.org/drawingml/2006/main">
            <a:off x="8686800" y="4162425"/>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Phát lại dữ liệu nhịp gõ</a:t>
            </a:r>
          </a:p>
        </p:txBody>
      </p:sp>
      <p:sp>
        <p:nvSpPr>
          <p:cNvPr id="18" name="">
            <a:extLst xmlns:a="http://schemas.openxmlformats.org/drawingml/2006/main">
              <a:ext uri="{FF2B5EF4-FFF2-40B4-BE49-F238E27FC236}">
                <a16:creationId xmlns:a16="http://schemas.microsoft.com/office/drawing/2014/main" id="{ED5FC423-90A3-44BD-9B62-EE14D61180F1}"/>
              </a:ext>
            </a:extLst>
          </p:cNvPr>
          <p:cNvSpPr>
            <a:spLocks xmlns:a="http://schemas.openxmlformats.org/drawingml/2006/main" noGrp="1"/>
          </p:cNvSpPr>
          <p:nvPr/>
        </p:nvSpPr>
        <p:spPr>
          <a:xfrm xmlns:a="http://schemas.openxmlformats.org/drawingml/2006/main">
            <a:off x="7981950" y="50101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12000"/>
              </a:lnSpc>
              <a:buNone/>
              <a:defRPr sz="1350" b="0" i="0">
                <a:solidFill>
                  <a:srgbClr val="506079"/>
                </a:solidFill>
                <a:latin typeface="Segoe UI"/>
                <a:ea typeface="Segoe UI"/>
                <a:cs typeface="Segoe UI"/>
              </a:defRPr>
            </a:pPr>
            <a:r>
              <a:rPr sz="1350" b="0" i="0">
                <a:solidFill>
                  <a:srgbClr val="506079"/>
                </a:solidFill>
                <a:latin typeface="Segoe UI"/>
                <a:ea typeface="Segoe UI"/>
                <a:cs typeface="Segoe UI"/>
              </a:rPr>
              <a:t>A4 kiểm tra cơ chế bảo vệ dữ liệu truyền. A1–A3 dùng để đánh giá bộ phát hiện.</a:t>
            </a:r>
          </a:p>
        </p:txBody>
      </p:sp>
      <p:sp>
        <p:nvSpPr>
          <p:cNvPr id="19" name="">
            <a:extLst xmlns:a="http://schemas.openxmlformats.org/drawingml/2006/main">
              <a:ext uri="{FF2B5EF4-FFF2-40B4-BE49-F238E27FC236}">
                <a16:creationId xmlns:a16="http://schemas.microsoft.com/office/drawing/2014/main" id="{9F0859C4-DC3D-4D99-ADA9-66FC1B16EBA0}"/>
              </a:ext>
            </a:extLst>
          </p:cNvPr>
          <p:cNvSpPr>
            <a:spLocks xmlns:a="http://schemas.openxmlformats.org/drawingml/2006/main" noGrp="1"/>
          </p:cNvSpPr>
          <p:nvPr/>
        </p:nvSpPr>
        <p:spPr>
          <a:xfrm xmlns:a="http://schemas.openxmlformats.org/drawingml/2006/main">
            <a:off x="685800" y="54673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Mỗi cấu hình dùng cùng cách chia dữ liệu và cùng chuỗi tấn công.</a:t>
            </a:r>
          </a:p>
        </p:txBody>
      </p:sp>
      <p:sp>
        <p:nvSpPr>
          <p:cNvPr id="20" name="">
            <a:extLst xmlns:a="http://schemas.openxmlformats.org/drawingml/2006/main">
              <a:ext uri="{FF2B5EF4-FFF2-40B4-BE49-F238E27FC236}">
                <a16:creationId xmlns:a16="http://schemas.microsoft.com/office/drawing/2014/main" id="{3432DA24-BBF3-4688-9BD0-933C20F34C11}"/>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9629585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4523FB-332A-4A99-BEA9-88B3B74F22D9}"/>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Chỉ số đánh giá và cách phân tích</a:t>
            </a:r>
          </a:p>
        </p:txBody>
      </p:sp>
      <p:sp>
        <p:nvSpPr>
          <p:cNvPr id="2" name="">
            <a:extLst xmlns:a="http://schemas.openxmlformats.org/drawingml/2006/main">
              <a:ext uri="{FF2B5EF4-FFF2-40B4-BE49-F238E27FC236}">
                <a16:creationId xmlns:a16="http://schemas.microsoft.com/office/drawing/2014/main" id="{C25EBCC8-2BAA-4B05-AF28-0C9CA23F099D}"/>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C0C48E24-55FA-4A3E-8860-6532DA3841A3}"/>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10</a:t>
            </a:r>
          </a:p>
        </p:txBody>
      </p:sp>
      <p:graphicFrame>
        <p:nvGraphicFramePr>
          <p:cNvPr id="14" name=""/>
          <p:cNvGraphicFramePr/>
          <p:nvPr/>
        </p:nvGraphicFramePr>
        <p:xfrm>
          <a:off xmlns:a="http://schemas.openxmlformats.org/drawingml/2006/main" x="666750" y="1314450"/>
          <a:ext xmlns:a="http://schemas.openxmlformats.org/drawingml/2006/main" cx="6381750" cy="4095750"/>
        </p:xfrm>
        <a:graphic xmlns:a="http://schemas.openxmlformats.org/drawingml/2006/main">
          <a:graphicData uri="http://schemas.openxmlformats.org/drawingml/2006/table">
            <a:tbl>
              <a:tblPr/>
              <a:tblGrid>
                <a:gridCol w="1381125"/>
                <a:gridCol w="5000625"/>
              </a:tblGrid>
              <a:tr h="682625">
                <a:tc>
                  <a:txBody>
                    <a:bodyPr/>
                    <a:lstStyle/>
                    <a:p>
                      <a:r>
                        <a:t>Chỉ số</a:t>
                      </a:r>
                    </a:p>
                  </a:txBody>
                  <a:tcPr marL="91440" marR="91440" marT="45720" marB="45720"/>
                </a:tc>
                <a:tc>
                  <a:txBody>
                    <a:bodyPr/>
                    <a:lstStyle/>
                    <a:p>
                      <a:r>
                        <a:t>Cách tính</a:t>
                      </a:r>
                    </a:p>
                  </a:txBody>
                  <a:tcPr marL="91440" marR="91440" marT="45720" marB="45720"/>
                </a:tc>
              </a:tr>
              <a:tr h="682625">
                <a:tc>
                  <a:txBody>
                    <a:bodyPr/>
                    <a:lstStyle/>
                    <a:p>
                      <a:r>
                        <a:t>FAR</a:t>
                      </a:r>
                    </a:p>
                  </a:txBody>
                  <a:tcPr marL="91440" marR="91440" marT="45720" marB="45720"/>
                </a:tc>
                <a:tc>
                  <a:txBody>
                    <a:bodyPr/>
                    <a:lstStyle/>
                    <a:p>
                      <a:r>
                        <a:t>Cửa sổ của kẻ giả mạo bị chấp nhận / tổng cửa sổ giả mạo</a:t>
                      </a:r>
                    </a:p>
                  </a:txBody>
                  <a:tcPr marL="91440" marR="91440" marT="45720" marB="45720"/>
                </a:tc>
              </a:tr>
              <a:tr h="682625">
                <a:tc>
                  <a:txBody>
                    <a:bodyPr/>
                    <a:lstStyle/>
                    <a:p>
                      <a:r>
                        <a:t>FRR</a:t>
                      </a:r>
                    </a:p>
                  </a:txBody>
                  <a:tcPr marL="91440" marR="91440" marT="45720" marB="45720"/>
                </a:tc>
                <a:tc>
                  <a:txBody>
                    <a:bodyPr/>
                    <a:lstStyle/>
                    <a:p>
                      <a:r>
                        <a:t>Cửa sổ của chính chủ bị từ chối / tổng cửa sổ chính chủ</a:t>
                      </a:r>
                    </a:p>
                  </a:txBody>
                  <a:tcPr marL="91440" marR="91440" marT="45720" marB="45720"/>
                </a:tc>
              </a:tr>
              <a:tr h="682625">
                <a:tc>
                  <a:txBody>
                    <a:bodyPr/>
                    <a:lstStyle/>
                    <a:p>
                      <a:r>
                        <a:t>EER</a:t>
                      </a:r>
                    </a:p>
                  </a:txBody>
                  <a:tcPr marL="91440" marR="91440" marT="45720" marB="45720"/>
                </a:tc>
                <a:tc>
                  <a:txBody>
                    <a:bodyPr/>
                    <a:lstStyle/>
                    <a:p>
                      <a:r>
                        <a:t>Điểm mà FAR và FRR xấp xỉ bằng nhau</a:t>
                      </a:r>
                    </a:p>
                  </a:txBody>
                  <a:tcPr marL="91440" marR="91440" marT="45720" marB="45720"/>
                </a:tc>
              </a:tr>
              <a:tr h="682625">
                <a:tc>
                  <a:txBody>
                    <a:bodyPr/>
                    <a:lstStyle/>
                    <a:p>
                      <a:r>
                        <a:t>TTD</a:t>
                      </a:r>
                    </a:p>
                  </a:txBody>
                  <a:tcPr marL="91440" marR="91440" marT="45720" marB="45720"/>
                </a:tc>
                <a:tc>
                  <a:txBody>
                    <a:bodyPr/>
                    <a:lstStyle/>
                    <a:p>
                      <a:r>
                        <a:t>Số phím từ lúc đổi người đến khi yêu cầu MFA hoặc thu hồi phiên</a:t>
                      </a:r>
                    </a:p>
                  </a:txBody>
                  <a:tcPr marL="91440" marR="91440" marT="45720" marB="45720"/>
                </a:tc>
              </a:tr>
              <a:tr h="682625">
                <a:tc>
                  <a:txBody>
                    <a:bodyPr/>
                    <a:lstStyle/>
                    <a:p>
                      <a:r>
                        <a:t>MFA/h</a:t>
                      </a:r>
                    </a:p>
                  </a:txBody>
                  <a:tcPr marL="91440" marR="91440" marT="45720" marB="45720"/>
                </a:tc>
                <a:tc>
                  <a:txBody>
                    <a:bodyPr/>
                    <a:lstStyle/>
                    <a:p>
                      <a:r>
                        <a:t>Số lần người dùng thật phải xác thực lại trong một giờ</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B42CADE1-68A2-4597-B274-58FCA8895D2D}"/>
              </a:ext>
            </a:extLst>
          </p:cNvPr>
          <p:cNvSpPr>
            <a:spLocks xmlns:a="http://schemas.openxmlformats.org/drawingml/2006/main" noGrp="1"/>
          </p:cNvSpPr>
          <p:nvPr/>
        </p:nvSpPr>
        <p:spPr>
          <a:xfrm xmlns:a="http://schemas.openxmlformats.org/drawingml/2006/main">
            <a:off x="7620000" y="13525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Phân tích thống kê</a:t>
            </a:r>
          </a:p>
        </p:txBody>
      </p:sp>
      <p:sp>
        <p:nvSpPr>
          <p:cNvPr id="6" name="">
            <a:extLst xmlns:a="http://schemas.openxmlformats.org/drawingml/2006/main">
              <a:ext uri="{FF2B5EF4-FFF2-40B4-BE49-F238E27FC236}">
                <a16:creationId xmlns:a16="http://schemas.microsoft.com/office/drawing/2014/main" id="{C271E42B-E7DC-4CEC-A6C2-283B1E9D40D7}"/>
              </a:ext>
            </a:extLst>
          </p:cNvPr>
          <p:cNvSpPr>
            <a:spLocks xmlns:a="http://schemas.openxmlformats.org/drawingml/2006/main" noGrp="1"/>
          </p:cNvSpPr>
          <p:nvPr/>
        </p:nvSpPr>
        <p:spPr>
          <a:xfrm xmlns:a="http://schemas.openxmlformats.org/drawingml/2006/main">
            <a:off x="7581900" y="1924050"/>
            <a:ext cx="3714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7972"/>
          </a:bodyPr>
          <a:lstStyle xmlns:a="http://schemas.openxmlformats.org/drawingml/2006/main"/>
          <a:p xmlns:a="http://schemas.openxmlformats.org/drawingml/2006/main">
            <a:pPr marL="254000" indent="-139700">
              <a:lnSpc>
                <a:spcPct val="112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Tính chỉ số riêng cho từng người.</a:t>
            </a:r>
          </a:p>
          <a:p xmlns:a="http://schemas.openxmlformats.org/drawingml/2006/main">
            <a:pPr marL="254000" indent="-139700">
              <a:lnSpc>
                <a:spcPct val="112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Báo cáo trung vị, IQR và khoảng tin cậy bootstrap 95%.</a:t>
            </a:r>
          </a:p>
          <a:p xmlns:a="http://schemas.openxmlformats.org/drawingml/2006/main">
            <a:pPr marL="254000" indent="-139700">
              <a:lnSpc>
                <a:spcPct val="112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So sánh cặp trên cùng người bằng Wilcoxon signed-rank.</a:t>
            </a:r>
          </a:p>
          <a:p xmlns:a="http://schemas.openxmlformats.org/drawingml/2006/main">
            <a:pPr marL="254000" indent="-139700">
              <a:lnSpc>
                <a:spcPct val="112000"/>
              </a:lnSpc>
              <a:spcAft>
                <a:spcPts val="850"/>
              </a:spcAft>
              <a:buNone/>
              <a:defRPr sz="1500">
                <a:solidFill>
                  <a:srgbClr val="142033"/>
                </a:solidFill>
                <a:latin typeface="Segoe UI"/>
                <a:ea typeface="Segoe UI"/>
                <a:cs typeface="Segoe UI"/>
              </a:defRPr>
            </a:pPr>
            <a:r>
              <a:rPr sz="1500">
                <a:solidFill>
                  <a:srgbClr val="142033"/>
                </a:solidFill>
                <a:latin typeface="Segoe UI"/>
                <a:ea typeface="Segoe UI"/>
                <a:cs typeface="Segoe UI"/>
              </a:rPr>
              <a:t>Trường hợp không phát hiện trong phiên được ghi là dữ liệu kiểm duyệt phải, không tự động gán giá trị cuối phiên.</a:t>
            </a:r>
          </a:p>
        </p:txBody>
      </p:sp>
      <p:sp>
        <p:nvSpPr>
          <p:cNvPr id="7" name="">
            <a:extLst xmlns:a="http://schemas.openxmlformats.org/drawingml/2006/main">
              <a:ext uri="{FF2B5EF4-FFF2-40B4-BE49-F238E27FC236}">
                <a16:creationId xmlns:a16="http://schemas.microsoft.com/office/drawing/2014/main" id="{7C5C1F6D-8F54-4B05-A2FF-6AA483F0185F}"/>
              </a:ext>
            </a:extLst>
          </p:cNvPr>
          <p:cNvSpPr>
            <a:spLocks xmlns:a="http://schemas.openxmlformats.org/drawingml/2006/main" noGrp="1"/>
          </p:cNvSpPr>
          <p:nvPr/>
        </p:nvSpPr>
        <p:spPr>
          <a:xfrm xmlns:a="http://schemas.openxmlformats.org/drawingml/2006/main">
            <a:off x="7581900" y="4705350"/>
            <a:ext cx="3714750" cy="1066800"/>
          </a:xfrm>
          <a:prstGeom xmlns:a="http://schemas.openxmlformats.org/drawingml/2006/main" prst="roundRect">
            <a:avLst>
              <a:gd name="adj" fmla="val 8929"/>
            </a:avLst>
          </a:prstGeom>
          <a:solidFill xmlns:a="http://schemas.openxmlformats.org/drawingml/2006/main">
            <a:srgbClr val="EEF4FC"/>
          </a:solidFill>
          <a:ln xmlns:a="http://schemas.openxmlformats.org/drawingml/2006/main" w="9525">
            <a:solidFill>
              <a:srgbClr val="D7E0EC"/>
            </a:solidFill>
            <a:prstDash val="solid"/>
          </a:ln>
        </p:spPr>
      </p:sp>
      <p:sp>
        <p:nvSpPr>
          <p:cNvPr id="8" name="">
            <a:extLst xmlns:a="http://schemas.openxmlformats.org/drawingml/2006/main">
              <a:ext uri="{FF2B5EF4-FFF2-40B4-BE49-F238E27FC236}">
                <a16:creationId xmlns:a16="http://schemas.microsoft.com/office/drawing/2014/main" id="{2B28F513-D266-464B-8788-DCD932C95180}"/>
              </a:ext>
            </a:extLst>
          </p:cNvPr>
          <p:cNvSpPr>
            <a:spLocks xmlns:a="http://schemas.openxmlformats.org/drawingml/2006/main" noGrp="1"/>
          </p:cNvSpPr>
          <p:nvPr/>
        </p:nvSpPr>
        <p:spPr>
          <a:xfrm xmlns:a="http://schemas.openxmlformats.org/drawingml/2006/main">
            <a:off x="7791450" y="48577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4307"/>
          </a:bodyPr>
          <a:lstStyle xmlns:a="http://schemas.openxmlformats.org/drawingml/2006/main"/>
          <a:p xmlns:a="http://schemas.openxmlformats.org/drawingml/2006/main">
            <a:pPr algn="l">
              <a:lnSpc>
                <a:spcPct val="108000"/>
              </a:lnSpc>
              <a:buNone/>
              <a:defRPr sz="1350" b="1" i="0">
                <a:solidFill>
                  <a:srgbClr val="2457C5"/>
                </a:solidFill>
                <a:latin typeface="Segoe UI"/>
                <a:ea typeface="Segoe UI"/>
                <a:cs typeface="Segoe UI"/>
              </a:defRPr>
            </a:pPr>
            <a:r>
              <a:rPr sz="1350" b="1" i="0">
                <a:solidFill>
                  <a:srgbClr val="2457C5"/>
                </a:solidFill>
                <a:latin typeface="Segoe UI"/>
                <a:ea typeface="Segoe UI"/>
                <a:cs typeface="Segoe UI"/>
              </a:rPr>
              <a:t>So sánh chính</a:t>
            </a:r>
          </a:p>
        </p:txBody>
      </p:sp>
      <p:sp>
        <p:nvSpPr>
          <p:cNvPr id="9" name="">
            <a:extLst xmlns:a="http://schemas.openxmlformats.org/drawingml/2006/main">
              <a:ext uri="{FF2B5EF4-FFF2-40B4-BE49-F238E27FC236}">
                <a16:creationId xmlns:a16="http://schemas.microsoft.com/office/drawing/2014/main" id="{40C7BA0F-5E43-47B7-A08F-90746A94EBDC}"/>
              </a:ext>
            </a:extLst>
          </p:cNvPr>
          <p:cNvSpPr>
            <a:spLocks xmlns:a="http://schemas.openxmlformats.org/drawingml/2006/main" noGrp="1"/>
          </p:cNvSpPr>
          <p:nvPr/>
        </p:nvSpPr>
        <p:spPr>
          <a:xfrm xmlns:a="http://schemas.openxmlformats.org/drawingml/2006/main">
            <a:off x="7791450" y="51625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79920"/>
          </a:bodyPr>
          <a:lstStyle xmlns:a="http://schemas.openxmlformats.org/drawingml/2006/main"/>
          <a:p xmlns:a="http://schemas.openxmlformats.org/drawingml/2006/main">
            <a:pPr algn="ctr">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Số lần MFA mỗi giờ tại cùng trung vị TTD</a:t>
            </a:r>
          </a:p>
        </p:txBody>
      </p:sp>
      <p:sp>
        <p:nvSpPr>
          <p:cNvPr id="10" name="">
            <a:extLst xmlns:a="http://schemas.openxmlformats.org/drawingml/2006/main">
              <a:ext uri="{FF2B5EF4-FFF2-40B4-BE49-F238E27FC236}">
                <a16:creationId xmlns:a16="http://schemas.microsoft.com/office/drawing/2014/main" id="{8B85DAF4-3813-420B-AA16-F9D10574ACE3}"/>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9894278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6A881AC-94CB-4AF9-8519-31923873AC29}"/>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Kiến trúc thử nghiệm và bảo vệ dữ liệu</a:t>
            </a:r>
          </a:p>
        </p:txBody>
      </p:sp>
      <p:sp>
        <p:nvSpPr>
          <p:cNvPr id="2" name="">
            <a:extLst xmlns:a="http://schemas.openxmlformats.org/drawingml/2006/main">
              <a:ext uri="{FF2B5EF4-FFF2-40B4-BE49-F238E27FC236}">
                <a16:creationId xmlns:a16="http://schemas.microsoft.com/office/drawing/2014/main" id="{3C1836DB-46B9-4D1D-9456-184F75E97055}"/>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DA314A3F-FF17-48ED-B324-FA826CB1BDE0}"/>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11</a:t>
            </a:r>
          </a:p>
        </p:txBody>
      </p:sp>
      <p:sp>
        <p:nvSpPr>
          <p:cNvPr id="4" name="">
            <a:extLst xmlns:a="http://schemas.openxmlformats.org/drawingml/2006/main">
              <a:ext uri="{FF2B5EF4-FFF2-40B4-BE49-F238E27FC236}">
                <a16:creationId xmlns:a16="http://schemas.microsoft.com/office/drawing/2014/main" id="{A1BE3920-432C-43D1-A512-276BE37B87AB}"/>
              </a:ext>
            </a:extLst>
          </p:cNvPr>
          <p:cNvSpPr>
            <a:spLocks xmlns:a="http://schemas.openxmlformats.org/drawingml/2006/main" noGrp="1"/>
          </p:cNvSpPr>
          <p:nvPr/>
        </p:nvSpPr>
        <p:spPr>
          <a:xfrm xmlns:a="http://schemas.openxmlformats.org/drawingml/2006/main">
            <a:off x="457200" y="1695450"/>
            <a:ext cx="1952625" cy="1409700"/>
          </a:xfrm>
          <a:prstGeom xmlns:a="http://schemas.openxmlformats.org/drawingml/2006/main" prst="roundRect">
            <a:avLst>
              <a:gd name="adj" fmla="val 6757"/>
            </a:avLst>
          </a:prstGeom>
          <a:solidFill xmlns:a="http://schemas.openxmlformats.org/drawingml/2006/main">
            <a:srgbClr val="F7F9FC"/>
          </a:solidFill>
          <a:ln xmlns:a="http://schemas.openxmlformats.org/drawingml/2006/main" w="9525">
            <a:solidFill>
              <a:srgbClr val="D7E0EC"/>
            </a:solidFill>
            <a:prstDash val="solid"/>
          </a:ln>
        </p:spPr>
      </p:sp>
      <p:sp>
        <p:nvSpPr>
          <p:cNvPr id="5" name="">
            <a:extLst xmlns:a="http://schemas.openxmlformats.org/drawingml/2006/main">
              <a:ext uri="{FF2B5EF4-FFF2-40B4-BE49-F238E27FC236}">
                <a16:creationId xmlns:a16="http://schemas.microsoft.com/office/drawing/2014/main" id="{664F11F3-C4D8-47AD-A836-827B41219C2D}"/>
              </a:ext>
            </a:extLst>
          </p:cNvPr>
          <p:cNvSpPr>
            <a:spLocks xmlns:a="http://schemas.openxmlformats.org/drawingml/2006/main" noGrp="1"/>
          </p:cNvSpPr>
          <p:nvPr/>
        </p:nvSpPr>
        <p:spPr>
          <a:xfrm xmlns:a="http://schemas.openxmlformats.org/drawingml/2006/main">
            <a:off x="571500" y="18097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500" b="1" i="0">
                <a:solidFill>
                  <a:srgbClr val="2457C5"/>
                </a:solidFill>
                <a:latin typeface="Segoe UI"/>
                <a:ea typeface="Segoe UI"/>
                <a:cs typeface="Segoe UI"/>
              </a:defRPr>
            </a:pPr>
            <a:r>
              <a:rPr sz="1500" b="1" i="0">
                <a:solidFill>
                  <a:srgbClr val="2457C5"/>
                </a:solidFill>
                <a:latin typeface="Segoe UI"/>
                <a:ea typeface="Segoe UI"/>
                <a:cs typeface="Segoe UI"/>
              </a:rPr>
              <a:t>1</a:t>
            </a:r>
          </a:p>
        </p:txBody>
      </p:sp>
      <p:sp>
        <p:nvSpPr>
          <p:cNvPr id="6" name="">
            <a:extLst xmlns:a="http://schemas.openxmlformats.org/drawingml/2006/main">
              <a:ext uri="{FF2B5EF4-FFF2-40B4-BE49-F238E27FC236}">
                <a16:creationId xmlns:a16="http://schemas.microsoft.com/office/drawing/2014/main" id="{1C11CBB4-F7F2-441C-A5F8-CA88CCDFFA92}"/>
              </a:ext>
            </a:extLst>
          </p:cNvPr>
          <p:cNvSpPr>
            <a:spLocks xmlns:a="http://schemas.openxmlformats.org/drawingml/2006/main" noGrp="1"/>
          </p:cNvSpPr>
          <p:nvPr/>
        </p:nvSpPr>
        <p:spPr>
          <a:xfrm xmlns:a="http://schemas.openxmlformats.org/drawingml/2006/main">
            <a:off x="666750" y="21526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Trình duyệt</a:t>
            </a:r>
          </a:p>
        </p:txBody>
      </p:sp>
      <p:sp>
        <p:nvSpPr>
          <p:cNvPr id="7" name="">
            <a:extLst xmlns:a="http://schemas.openxmlformats.org/drawingml/2006/main">
              <a:ext uri="{FF2B5EF4-FFF2-40B4-BE49-F238E27FC236}">
                <a16:creationId xmlns:a16="http://schemas.microsoft.com/office/drawing/2014/main" id="{0841B8BB-AD09-4251-8A88-6EB40448FAFA}"/>
              </a:ext>
            </a:extLst>
          </p:cNvPr>
          <p:cNvSpPr>
            <a:spLocks xmlns:a="http://schemas.openxmlformats.org/drawingml/2006/main" noGrp="1"/>
          </p:cNvSpPr>
          <p:nvPr/>
        </p:nvSpPr>
        <p:spPr>
          <a:xfrm xmlns:a="http://schemas.openxmlformats.org/drawingml/2006/main">
            <a:off x="628650" y="27241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1797"/>
          </a:bodyPr>
          <a:lstStyle xmlns:a="http://schemas.openxmlformats.org/drawingml/2006/main"/>
          <a:p xmlns:a="http://schemas.openxmlformats.org/drawingml/2006/main">
            <a:pPr algn="ctr">
              <a:lnSpc>
                <a:spcPct val="108000"/>
              </a:lnSpc>
              <a:buNone/>
              <a:defRPr sz="1200" b="0" i="0">
                <a:solidFill>
                  <a:srgbClr val="506079"/>
                </a:solidFill>
                <a:latin typeface="Segoe UI"/>
                <a:ea typeface="Segoe UI"/>
                <a:cs typeface="Segoe UI"/>
              </a:defRPr>
            </a:pPr>
            <a:r>
              <a:rPr sz="1200" b="0" i="0">
                <a:solidFill>
                  <a:srgbClr val="506079"/>
                </a:solidFill>
                <a:latin typeface="Segoe UI"/>
                <a:ea typeface="Segoe UI"/>
                <a:cs typeface="Segoe UI"/>
              </a:rPr>
              <a:t>keydown, keyup, event.code</a:t>
            </a:r>
          </a:p>
        </p:txBody>
      </p:sp>
      <p:sp>
        <p:nvSpPr>
          <p:cNvPr id="8" name="">
            <a:extLst xmlns:a="http://schemas.openxmlformats.org/drawingml/2006/main">
              <a:ext uri="{FF2B5EF4-FFF2-40B4-BE49-F238E27FC236}">
                <a16:creationId xmlns:a16="http://schemas.microsoft.com/office/drawing/2014/main" id="{EFA3626C-5EB2-494A-B03B-88D260D634F6}"/>
              </a:ext>
            </a:extLst>
          </p:cNvPr>
          <p:cNvSpPr>
            <a:spLocks xmlns:a="http://schemas.openxmlformats.org/drawingml/2006/main" noGrp="1"/>
          </p:cNvSpPr>
          <p:nvPr/>
        </p:nvSpPr>
        <p:spPr>
          <a:xfrm xmlns:a="http://schemas.openxmlformats.org/drawingml/2006/main">
            <a:off x="2800350" y="1695450"/>
            <a:ext cx="1952625" cy="1409700"/>
          </a:xfrm>
          <a:prstGeom xmlns:a="http://schemas.openxmlformats.org/drawingml/2006/main" prst="roundRect">
            <a:avLst>
              <a:gd name="adj" fmla="val 6757"/>
            </a:avLst>
          </a:prstGeom>
          <a:solidFill xmlns:a="http://schemas.openxmlformats.org/drawingml/2006/main">
            <a:srgbClr val="F7F9FC"/>
          </a:solidFill>
          <a:ln xmlns:a="http://schemas.openxmlformats.org/drawingml/2006/main" w="9525">
            <a:solidFill>
              <a:srgbClr val="D7E0EC"/>
            </a:solidFill>
            <a:prstDash val="solid"/>
          </a:ln>
        </p:spPr>
      </p:sp>
      <p:sp>
        <p:nvSpPr>
          <p:cNvPr id="9" name="">
            <a:extLst xmlns:a="http://schemas.openxmlformats.org/drawingml/2006/main">
              <a:ext uri="{FF2B5EF4-FFF2-40B4-BE49-F238E27FC236}">
                <a16:creationId xmlns:a16="http://schemas.microsoft.com/office/drawing/2014/main" id="{598A4AC1-1A14-49D7-A392-5FC30A8EF2BD}"/>
              </a:ext>
            </a:extLst>
          </p:cNvPr>
          <p:cNvSpPr>
            <a:spLocks xmlns:a="http://schemas.openxmlformats.org/drawingml/2006/main" noGrp="1"/>
          </p:cNvSpPr>
          <p:nvPr/>
        </p:nvSpPr>
        <p:spPr>
          <a:xfrm xmlns:a="http://schemas.openxmlformats.org/drawingml/2006/main">
            <a:off x="2914650" y="18097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500" b="1" i="0">
                <a:solidFill>
                  <a:srgbClr val="2457C5"/>
                </a:solidFill>
                <a:latin typeface="Segoe UI"/>
                <a:ea typeface="Segoe UI"/>
                <a:cs typeface="Segoe UI"/>
              </a:defRPr>
            </a:pPr>
            <a:r>
              <a:rPr sz="1500" b="1" i="0">
                <a:solidFill>
                  <a:srgbClr val="2457C5"/>
                </a:solidFill>
                <a:latin typeface="Segoe UI"/>
                <a:ea typeface="Segoe UI"/>
                <a:cs typeface="Segoe UI"/>
              </a:rPr>
              <a:t>2</a:t>
            </a:r>
          </a:p>
        </p:txBody>
      </p:sp>
      <p:sp>
        <p:nvSpPr>
          <p:cNvPr id="10" name="">
            <a:extLst xmlns:a="http://schemas.openxmlformats.org/drawingml/2006/main">
              <a:ext uri="{FF2B5EF4-FFF2-40B4-BE49-F238E27FC236}">
                <a16:creationId xmlns:a16="http://schemas.microsoft.com/office/drawing/2014/main" id="{F732D6CE-B20C-49C1-85F0-F4B5B62F9DBF}"/>
              </a:ext>
            </a:extLst>
          </p:cNvPr>
          <p:cNvSpPr>
            <a:spLocks xmlns:a="http://schemas.openxmlformats.org/drawingml/2006/main" noGrp="1"/>
          </p:cNvSpPr>
          <p:nvPr/>
        </p:nvSpPr>
        <p:spPr>
          <a:xfrm xmlns:a="http://schemas.openxmlformats.org/drawingml/2006/main">
            <a:off x="3009900" y="21526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6448"/>
          </a:bodyPr>
          <a:lstStyle xmlns:a="http://schemas.openxmlformats.org/drawingml/2006/main"/>
          <a:p xmlns:a="http://schemas.openxmlformats.org/drawingml/2006/main">
            <a:pPr algn="ctr">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Trích đặc trưng</a:t>
            </a:r>
          </a:p>
        </p:txBody>
      </p:sp>
      <p:sp>
        <p:nvSpPr>
          <p:cNvPr id="11" name="">
            <a:extLst xmlns:a="http://schemas.openxmlformats.org/drawingml/2006/main">
              <a:ext uri="{FF2B5EF4-FFF2-40B4-BE49-F238E27FC236}">
                <a16:creationId xmlns:a16="http://schemas.microsoft.com/office/drawing/2014/main" id="{54E69C42-18B5-4259-9119-E6E9FAFA3D71}"/>
              </a:ext>
            </a:extLst>
          </p:cNvPr>
          <p:cNvSpPr>
            <a:spLocks xmlns:a="http://schemas.openxmlformats.org/drawingml/2006/main" noGrp="1"/>
          </p:cNvSpPr>
          <p:nvPr/>
        </p:nvSpPr>
        <p:spPr>
          <a:xfrm xmlns:a="http://schemas.openxmlformats.org/drawingml/2006/main">
            <a:off x="2971800" y="27241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9584"/>
          </a:bodyPr>
          <a:lstStyle xmlns:a="http://schemas.openxmlformats.org/drawingml/2006/main"/>
          <a:p xmlns:a="http://schemas.openxmlformats.org/drawingml/2006/main">
            <a:pPr algn="ctr">
              <a:lnSpc>
                <a:spcPct val="108000"/>
              </a:lnSpc>
              <a:buNone/>
              <a:defRPr sz="1200" b="0" i="0">
                <a:solidFill>
                  <a:srgbClr val="506079"/>
                </a:solidFill>
                <a:latin typeface="Segoe UI"/>
                <a:ea typeface="Segoe UI"/>
                <a:cs typeface="Segoe UI"/>
              </a:defRPr>
            </a:pPr>
            <a:r>
              <a:rPr sz="1200" b="0" i="0">
                <a:solidFill>
                  <a:srgbClr val="506079"/>
                </a:solidFill>
                <a:latin typeface="Segoe UI"/>
                <a:ea typeface="Segoe UI"/>
                <a:cs typeface="Segoe UI"/>
              </a:rPr>
              <a:t>cửa sổ 20 / 50 / 100 phím</a:t>
            </a:r>
          </a:p>
        </p:txBody>
      </p:sp>
      <p:cxnSp>
        <p:nvCxnSpPr>
          <p:cNvPr id="43" name=""/>
          <p:cNvCxnSpPr>
            <a:stCxn xmlns:a="http://schemas.openxmlformats.org/drawingml/2006/main" id="4" idx="3"/>
            <a:endCxn xmlns:a="http://schemas.openxmlformats.org/drawingml/2006/main" id="8" idx="1"/>
          </p:cNvCxnSpPr>
          <p:nvPr/>
        </p:nvCxnSpPr>
        <p:spPr>
          <a:xfrm xmlns:a="http://schemas.openxmlformats.org/drawingml/2006/main">
            <a:off x="2409825" y="2400300"/>
            <a:ext cx="390525"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13" name="">
            <a:extLst xmlns:a="http://schemas.openxmlformats.org/drawingml/2006/main">
              <a:ext uri="{FF2B5EF4-FFF2-40B4-BE49-F238E27FC236}">
                <a16:creationId xmlns:a16="http://schemas.microsoft.com/office/drawing/2014/main" id="{EECA559B-FD1A-443C-B8CF-3D2BF8D7DE60}"/>
              </a:ext>
            </a:extLst>
          </p:cNvPr>
          <p:cNvSpPr>
            <a:spLocks xmlns:a="http://schemas.openxmlformats.org/drawingml/2006/main" noGrp="1"/>
          </p:cNvSpPr>
          <p:nvPr/>
        </p:nvSpPr>
        <p:spPr>
          <a:xfrm xmlns:a="http://schemas.openxmlformats.org/drawingml/2006/main">
            <a:off x="5143500" y="1695450"/>
            <a:ext cx="1952625" cy="1409700"/>
          </a:xfrm>
          <a:prstGeom xmlns:a="http://schemas.openxmlformats.org/drawingml/2006/main" prst="roundRect">
            <a:avLst>
              <a:gd name="adj" fmla="val 6757"/>
            </a:avLst>
          </a:prstGeom>
          <a:solidFill xmlns:a="http://schemas.openxmlformats.org/drawingml/2006/main">
            <a:srgbClr val="F7F9FC"/>
          </a:solidFill>
          <a:ln xmlns:a="http://schemas.openxmlformats.org/drawingml/2006/main" w="9525">
            <a:solidFill>
              <a:srgbClr val="D7E0EC"/>
            </a:solidFill>
            <a:prstDash val="solid"/>
          </a:ln>
        </p:spPr>
      </p:sp>
      <p:sp>
        <p:nvSpPr>
          <p:cNvPr id="14" name="">
            <a:extLst xmlns:a="http://schemas.openxmlformats.org/drawingml/2006/main">
              <a:ext uri="{FF2B5EF4-FFF2-40B4-BE49-F238E27FC236}">
                <a16:creationId xmlns:a16="http://schemas.microsoft.com/office/drawing/2014/main" id="{7DEAE720-AED9-4BDB-86CC-B5EFA191957B}"/>
              </a:ext>
            </a:extLst>
          </p:cNvPr>
          <p:cNvSpPr>
            <a:spLocks xmlns:a="http://schemas.openxmlformats.org/drawingml/2006/main" noGrp="1"/>
          </p:cNvSpPr>
          <p:nvPr/>
        </p:nvSpPr>
        <p:spPr>
          <a:xfrm xmlns:a="http://schemas.openxmlformats.org/drawingml/2006/main">
            <a:off x="5257800" y="18097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500" b="1" i="0">
                <a:solidFill>
                  <a:srgbClr val="2457C5"/>
                </a:solidFill>
                <a:latin typeface="Segoe UI"/>
                <a:ea typeface="Segoe UI"/>
                <a:cs typeface="Segoe UI"/>
              </a:defRPr>
            </a:pPr>
            <a:r>
              <a:rPr sz="1500" b="1" i="0">
                <a:solidFill>
                  <a:srgbClr val="2457C5"/>
                </a:solidFill>
                <a:latin typeface="Segoe UI"/>
                <a:ea typeface="Segoe UI"/>
                <a:cs typeface="Segoe UI"/>
              </a:rPr>
              <a:t>3</a:t>
            </a:r>
          </a:p>
        </p:txBody>
      </p:sp>
      <p:sp>
        <p:nvSpPr>
          <p:cNvPr id="15" name="">
            <a:extLst xmlns:a="http://schemas.openxmlformats.org/drawingml/2006/main">
              <a:ext uri="{FF2B5EF4-FFF2-40B4-BE49-F238E27FC236}">
                <a16:creationId xmlns:a16="http://schemas.microsoft.com/office/drawing/2014/main" id="{0B564D82-D176-493B-8D39-123B0A91267A}"/>
              </a:ext>
            </a:extLst>
          </p:cNvPr>
          <p:cNvSpPr>
            <a:spLocks xmlns:a="http://schemas.openxmlformats.org/drawingml/2006/main" noGrp="1"/>
          </p:cNvSpPr>
          <p:nvPr/>
        </p:nvSpPr>
        <p:spPr>
          <a:xfrm xmlns:a="http://schemas.openxmlformats.org/drawingml/2006/main">
            <a:off x="5353050" y="21526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4175"/>
          </a:bodyPr>
          <a:lstStyle xmlns:a="http://schemas.openxmlformats.org/drawingml/2006/main"/>
          <a:p xmlns:a="http://schemas.openxmlformats.org/drawingml/2006/main">
            <a:pPr algn="ctr">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Hồ sơ người dùng</a:t>
            </a:r>
          </a:p>
        </p:txBody>
      </p:sp>
      <p:sp>
        <p:nvSpPr>
          <p:cNvPr id="16" name="">
            <a:extLst xmlns:a="http://schemas.openxmlformats.org/drawingml/2006/main">
              <a:ext uri="{FF2B5EF4-FFF2-40B4-BE49-F238E27FC236}">
                <a16:creationId xmlns:a16="http://schemas.microsoft.com/office/drawing/2014/main" id="{4E800D7C-E1C3-4BC4-ABC3-6DD604715BC0}"/>
              </a:ext>
            </a:extLst>
          </p:cNvPr>
          <p:cNvSpPr>
            <a:spLocks xmlns:a="http://schemas.openxmlformats.org/drawingml/2006/main" noGrp="1"/>
          </p:cNvSpPr>
          <p:nvPr/>
        </p:nvSpPr>
        <p:spPr>
          <a:xfrm xmlns:a="http://schemas.openxmlformats.org/drawingml/2006/main">
            <a:off x="5314950" y="27241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2834"/>
          </a:bodyPr>
          <a:lstStyle xmlns:a="http://schemas.openxmlformats.org/drawingml/2006/main"/>
          <a:p xmlns:a="http://schemas.openxmlformats.org/drawingml/2006/main">
            <a:pPr algn="ctr">
              <a:lnSpc>
                <a:spcPct val="108000"/>
              </a:lnSpc>
              <a:buNone/>
              <a:defRPr sz="1200" b="0" i="0">
                <a:solidFill>
                  <a:srgbClr val="506079"/>
                </a:solidFill>
                <a:latin typeface="Segoe UI"/>
                <a:ea typeface="Segoe UI"/>
                <a:cs typeface="Segoe UI"/>
              </a:defRPr>
            </a:pPr>
            <a:r>
              <a:rPr sz="1200" b="0" i="0">
                <a:solidFill>
                  <a:srgbClr val="506079"/>
                </a:solidFill>
                <a:latin typeface="Segoe UI"/>
                <a:ea typeface="Segoe UI"/>
                <a:cs typeface="Segoe UI"/>
              </a:rPr>
              <a:t>điểm bất thường và z-score</a:t>
            </a:r>
          </a:p>
        </p:txBody>
      </p:sp>
      <p:cxnSp>
        <p:nvCxnSpPr>
          <p:cNvPr id="48" name=""/>
          <p:cNvCxnSpPr>
            <a:stCxn xmlns:a="http://schemas.openxmlformats.org/drawingml/2006/main" id="8" idx="3"/>
            <a:endCxn xmlns:a="http://schemas.openxmlformats.org/drawingml/2006/main" id="13" idx="1"/>
          </p:cNvCxnSpPr>
          <p:nvPr/>
        </p:nvCxnSpPr>
        <p:spPr>
          <a:xfrm xmlns:a="http://schemas.openxmlformats.org/drawingml/2006/main">
            <a:off x="4752975" y="2400300"/>
            <a:ext cx="390525"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18" name="">
            <a:extLst xmlns:a="http://schemas.openxmlformats.org/drawingml/2006/main">
              <a:ext uri="{FF2B5EF4-FFF2-40B4-BE49-F238E27FC236}">
                <a16:creationId xmlns:a16="http://schemas.microsoft.com/office/drawing/2014/main" id="{169722D6-A77B-4E0D-9EDD-580D4FF35CBF}"/>
              </a:ext>
            </a:extLst>
          </p:cNvPr>
          <p:cNvSpPr>
            <a:spLocks xmlns:a="http://schemas.openxmlformats.org/drawingml/2006/main" noGrp="1"/>
          </p:cNvSpPr>
          <p:nvPr/>
        </p:nvSpPr>
        <p:spPr>
          <a:xfrm xmlns:a="http://schemas.openxmlformats.org/drawingml/2006/main">
            <a:off x="7486650" y="1695450"/>
            <a:ext cx="1952625" cy="1409700"/>
          </a:xfrm>
          <a:prstGeom xmlns:a="http://schemas.openxmlformats.org/drawingml/2006/main" prst="roundRect">
            <a:avLst>
              <a:gd name="adj" fmla="val 6757"/>
            </a:avLst>
          </a:prstGeom>
          <a:solidFill xmlns:a="http://schemas.openxmlformats.org/drawingml/2006/main">
            <a:srgbClr val="F7F9FC"/>
          </a:solidFill>
          <a:ln xmlns:a="http://schemas.openxmlformats.org/drawingml/2006/main" w="9525">
            <a:solidFill>
              <a:srgbClr val="D7E0EC"/>
            </a:solidFill>
            <a:prstDash val="solid"/>
          </a:ln>
        </p:spPr>
      </p:sp>
      <p:sp>
        <p:nvSpPr>
          <p:cNvPr id="19" name="">
            <a:extLst xmlns:a="http://schemas.openxmlformats.org/drawingml/2006/main">
              <a:ext uri="{FF2B5EF4-FFF2-40B4-BE49-F238E27FC236}">
                <a16:creationId xmlns:a16="http://schemas.microsoft.com/office/drawing/2014/main" id="{FB90ABF8-EF7B-4CD2-9EC0-23E08EC5F01D}"/>
              </a:ext>
            </a:extLst>
          </p:cNvPr>
          <p:cNvSpPr>
            <a:spLocks xmlns:a="http://schemas.openxmlformats.org/drawingml/2006/main" noGrp="1"/>
          </p:cNvSpPr>
          <p:nvPr/>
        </p:nvSpPr>
        <p:spPr>
          <a:xfrm xmlns:a="http://schemas.openxmlformats.org/drawingml/2006/main">
            <a:off x="7600950" y="18097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500" b="1" i="0">
                <a:solidFill>
                  <a:srgbClr val="2457C5"/>
                </a:solidFill>
                <a:latin typeface="Segoe UI"/>
                <a:ea typeface="Segoe UI"/>
                <a:cs typeface="Segoe UI"/>
              </a:defRPr>
            </a:pPr>
            <a:r>
              <a:rPr sz="1500" b="1" i="0">
                <a:solidFill>
                  <a:srgbClr val="2457C5"/>
                </a:solidFill>
                <a:latin typeface="Segoe UI"/>
                <a:ea typeface="Segoe UI"/>
                <a:cs typeface="Segoe UI"/>
              </a:rPr>
              <a:t>4</a:t>
            </a:r>
          </a:p>
        </p:txBody>
      </p:sp>
      <p:sp>
        <p:nvSpPr>
          <p:cNvPr id="20" name="">
            <a:extLst xmlns:a="http://schemas.openxmlformats.org/drawingml/2006/main">
              <a:ext uri="{FF2B5EF4-FFF2-40B4-BE49-F238E27FC236}">
                <a16:creationId xmlns:a16="http://schemas.microsoft.com/office/drawing/2014/main" id="{BB4919EB-24EB-4DD8-B8F0-16825AD2B366}"/>
              </a:ext>
            </a:extLst>
          </p:cNvPr>
          <p:cNvSpPr>
            <a:spLocks xmlns:a="http://schemas.openxmlformats.org/drawingml/2006/main" noGrp="1"/>
          </p:cNvSpPr>
          <p:nvPr/>
        </p:nvSpPr>
        <p:spPr>
          <a:xfrm xmlns:a="http://schemas.openxmlformats.org/drawingml/2006/main">
            <a:off x="7696200" y="21526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8289"/>
          </a:bodyPr>
          <a:lstStyle xmlns:a="http://schemas.openxmlformats.org/drawingml/2006/main"/>
          <a:p xmlns:a="http://schemas.openxmlformats.org/drawingml/2006/main">
            <a:pPr algn="ctr">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Cập nhật rủi ro</a:t>
            </a:r>
          </a:p>
        </p:txBody>
      </p:sp>
      <p:sp>
        <p:nvSpPr>
          <p:cNvPr id="21" name="">
            <a:extLst xmlns:a="http://schemas.openxmlformats.org/drawingml/2006/main">
              <a:ext uri="{FF2B5EF4-FFF2-40B4-BE49-F238E27FC236}">
                <a16:creationId xmlns:a16="http://schemas.microsoft.com/office/drawing/2014/main" id="{5AF79BDF-FDC3-4AE5-889D-F5A34A951400}"/>
              </a:ext>
            </a:extLst>
          </p:cNvPr>
          <p:cNvSpPr>
            <a:spLocks xmlns:a="http://schemas.openxmlformats.org/drawingml/2006/main" noGrp="1"/>
          </p:cNvSpPr>
          <p:nvPr/>
        </p:nvSpPr>
        <p:spPr>
          <a:xfrm xmlns:a="http://schemas.openxmlformats.org/drawingml/2006/main">
            <a:off x="7658100" y="27241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62693"/>
          </a:bodyPr>
          <a:lstStyle xmlns:a="http://schemas.openxmlformats.org/drawingml/2006/main"/>
          <a:p xmlns:a="http://schemas.openxmlformats.org/drawingml/2006/main">
            <a:pPr algn="ctr">
              <a:lnSpc>
                <a:spcPct val="108000"/>
              </a:lnSpc>
              <a:buNone/>
              <a:defRPr sz="1200" b="0" i="0">
                <a:solidFill>
                  <a:srgbClr val="506079"/>
                </a:solidFill>
                <a:latin typeface="Segoe UI"/>
                <a:ea typeface="Segoe UI"/>
                <a:cs typeface="Segoe UI"/>
              </a:defRPr>
            </a:pPr>
            <a:r>
              <a:rPr sz="1200" b="0" i="0">
                <a:solidFill>
                  <a:srgbClr val="506079"/>
                </a:solidFill>
                <a:latin typeface="Segoe UI"/>
                <a:ea typeface="Segoe UI"/>
                <a:cs typeface="Segoe UI"/>
              </a:rPr>
              <a:t>CUSUM có hệ số quên và ngưỡng h₁, h₂</a:t>
            </a:r>
          </a:p>
        </p:txBody>
      </p:sp>
      <p:cxnSp>
        <p:nvCxnSpPr>
          <p:cNvPr id="53" name=""/>
          <p:cNvCxnSpPr>
            <a:stCxn xmlns:a="http://schemas.openxmlformats.org/drawingml/2006/main" id="13" idx="3"/>
            <a:endCxn xmlns:a="http://schemas.openxmlformats.org/drawingml/2006/main" id="18" idx="1"/>
          </p:cNvCxnSpPr>
          <p:nvPr/>
        </p:nvCxnSpPr>
        <p:spPr>
          <a:xfrm xmlns:a="http://schemas.openxmlformats.org/drawingml/2006/main">
            <a:off x="7096125" y="2400300"/>
            <a:ext cx="390525"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23" name="">
            <a:extLst xmlns:a="http://schemas.openxmlformats.org/drawingml/2006/main">
              <a:ext uri="{FF2B5EF4-FFF2-40B4-BE49-F238E27FC236}">
                <a16:creationId xmlns:a16="http://schemas.microsoft.com/office/drawing/2014/main" id="{E7004EB1-6D3D-4200-8A05-5EAF0FBBDE42}"/>
              </a:ext>
            </a:extLst>
          </p:cNvPr>
          <p:cNvSpPr>
            <a:spLocks xmlns:a="http://schemas.openxmlformats.org/drawingml/2006/main" noGrp="1"/>
          </p:cNvSpPr>
          <p:nvPr/>
        </p:nvSpPr>
        <p:spPr>
          <a:xfrm xmlns:a="http://schemas.openxmlformats.org/drawingml/2006/main">
            <a:off x="9829800" y="1695450"/>
            <a:ext cx="1952625" cy="1409700"/>
          </a:xfrm>
          <a:prstGeom xmlns:a="http://schemas.openxmlformats.org/drawingml/2006/main" prst="roundRect">
            <a:avLst>
              <a:gd name="adj" fmla="val 6757"/>
            </a:avLst>
          </a:prstGeom>
          <a:solidFill xmlns:a="http://schemas.openxmlformats.org/drawingml/2006/main">
            <a:srgbClr val="EAF8F4"/>
          </a:solidFill>
          <a:ln xmlns:a="http://schemas.openxmlformats.org/drawingml/2006/main" w="9525">
            <a:solidFill>
              <a:srgbClr val="B7DED1"/>
            </a:solidFill>
            <a:prstDash val="solid"/>
          </a:ln>
        </p:spPr>
      </p:sp>
      <p:sp>
        <p:nvSpPr>
          <p:cNvPr id="24" name="">
            <a:extLst xmlns:a="http://schemas.openxmlformats.org/drawingml/2006/main">
              <a:ext uri="{FF2B5EF4-FFF2-40B4-BE49-F238E27FC236}">
                <a16:creationId xmlns:a16="http://schemas.microsoft.com/office/drawing/2014/main" id="{7D7899BB-669E-462E-8B23-4732EC771D8C}"/>
              </a:ext>
            </a:extLst>
          </p:cNvPr>
          <p:cNvSpPr>
            <a:spLocks xmlns:a="http://schemas.openxmlformats.org/drawingml/2006/main" noGrp="1"/>
          </p:cNvSpPr>
          <p:nvPr/>
        </p:nvSpPr>
        <p:spPr>
          <a:xfrm xmlns:a="http://schemas.openxmlformats.org/drawingml/2006/main">
            <a:off x="9944100" y="18097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500" b="1" i="0">
                <a:solidFill>
                  <a:srgbClr val="2457C5"/>
                </a:solidFill>
                <a:latin typeface="Segoe UI"/>
                <a:ea typeface="Segoe UI"/>
                <a:cs typeface="Segoe UI"/>
              </a:defRPr>
            </a:pPr>
            <a:r>
              <a:rPr sz="1500" b="1" i="0">
                <a:solidFill>
                  <a:srgbClr val="2457C5"/>
                </a:solidFill>
                <a:latin typeface="Segoe UI"/>
                <a:ea typeface="Segoe UI"/>
                <a:cs typeface="Segoe UI"/>
              </a:rPr>
              <a:t>5</a:t>
            </a:r>
          </a:p>
        </p:txBody>
      </p:sp>
      <p:sp>
        <p:nvSpPr>
          <p:cNvPr id="25" name="">
            <a:extLst xmlns:a="http://schemas.openxmlformats.org/drawingml/2006/main">
              <a:ext uri="{FF2B5EF4-FFF2-40B4-BE49-F238E27FC236}">
                <a16:creationId xmlns:a16="http://schemas.microsoft.com/office/drawing/2014/main" id="{D39BEC5C-39AE-4785-A49A-0DAD9A0426B4}"/>
              </a:ext>
            </a:extLst>
          </p:cNvPr>
          <p:cNvSpPr>
            <a:spLocks xmlns:a="http://schemas.openxmlformats.org/drawingml/2006/main" noGrp="1"/>
          </p:cNvSpPr>
          <p:nvPr/>
        </p:nvSpPr>
        <p:spPr>
          <a:xfrm xmlns:a="http://schemas.openxmlformats.org/drawingml/2006/main">
            <a:off x="10039350" y="21526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4175"/>
          </a:bodyPr>
          <a:lstStyle xmlns:a="http://schemas.openxmlformats.org/drawingml/2006/main"/>
          <a:p xmlns:a="http://schemas.openxmlformats.org/drawingml/2006/main">
            <a:pPr algn="ctr">
              <a:lnSpc>
                <a:spcPct val="108000"/>
              </a:lnSpc>
              <a:buNone/>
              <a:defRPr sz="1650" b="1" i="0">
                <a:solidFill>
                  <a:srgbClr val="102A56"/>
                </a:solidFill>
                <a:latin typeface="Segoe UI"/>
                <a:ea typeface="Segoe UI"/>
                <a:cs typeface="Segoe UI"/>
              </a:defRPr>
            </a:pPr>
            <a:r>
              <a:rPr sz="1650" b="1" i="0">
                <a:solidFill>
                  <a:srgbClr val="102A56"/>
                </a:solidFill>
                <a:latin typeface="Segoe UI"/>
                <a:ea typeface="Segoe UI"/>
                <a:cs typeface="Segoe UI"/>
              </a:rPr>
              <a:t>Bộ điều khiển phiên</a:t>
            </a:r>
          </a:p>
        </p:txBody>
      </p:sp>
      <p:sp>
        <p:nvSpPr>
          <p:cNvPr id="26" name="">
            <a:extLst xmlns:a="http://schemas.openxmlformats.org/drawingml/2006/main">
              <a:ext uri="{FF2B5EF4-FFF2-40B4-BE49-F238E27FC236}">
                <a16:creationId xmlns:a16="http://schemas.microsoft.com/office/drawing/2014/main" id="{775DB299-E4BD-42DB-902D-11B247A79BEC}"/>
              </a:ext>
            </a:extLst>
          </p:cNvPr>
          <p:cNvSpPr>
            <a:spLocks xmlns:a="http://schemas.openxmlformats.org/drawingml/2006/main" noGrp="1"/>
          </p:cNvSpPr>
          <p:nvPr/>
        </p:nvSpPr>
        <p:spPr>
          <a:xfrm xmlns:a="http://schemas.openxmlformats.org/drawingml/2006/main">
            <a:off x="10001250" y="27241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8000"/>
              </a:lnSpc>
              <a:buNone/>
              <a:defRPr sz="1200" b="0" i="0">
                <a:solidFill>
                  <a:srgbClr val="506079"/>
                </a:solidFill>
                <a:latin typeface="Segoe UI"/>
                <a:ea typeface="Segoe UI"/>
                <a:cs typeface="Segoe UI"/>
              </a:defRPr>
            </a:pPr>
            <a:r>
              <a:rPr sz="1200" b="0" i="0">
                <a:solidFill>
                  <a:srgbClr val="506079"/>
                </a:solidFill>
                <a:latin typeface="Segoe UI"/>
                <a:ea typeface="Segoe UI"/>
                <a:cs typeface="Segoe UI"/>
              </a:rPr>
              <a:t>Tiếp tục, MFA, thu hồi</a:t>
            </a:r>
          </a:p>
        </p:txBody>
      </p:sp>
      <p:cxnSp>
        <p:nvCxnSpPr>
          <p:cNvPr id="58" name=""/>
          <p:cNvCxnSpPr>
            <a:stCxn xmlns:a="http://schemas.openxmlformats.org/drawingml/2006/main" id="18" idx="3"/>
            <a:endCxn xmlns:a="http://schemas.openxmlformats.org/drawingml/2006/main" id="23" idx="1"/>
          </p:cNvCxnSpPr>
          <p:nvPr/>
        </p:nvCxnSpPr>
        <p:spPr>
          <a:xfrm xmlns:a="http://schemas.openxmlformats.org/drawingml/2006/main">
            <a:off x="9439275" y="2400300"/>
            <a:ext cx="390525" cy="0"/>
          </a:xfrm>
          <a:prstGeom xmlns:a="http://schemas.openxmlformats.org/drawingml/2006/main" prst="straightConnector1">
            <a:avLst/>
          </a:prstGeom>
          <a:ln xmlns:a="http://schemas.openxmlformats.org/drawingml/2006/main" w="19050">
            <a:solidFill>
              <a:srgbClr val="506079"/>
            </a:solidFill>
            <a:prstDash val="solid"/>
            <a:tailEnd type="arrow" w="sm" len="sm"/>
          </a:ln>
        </p:spPr>
      </p:cxnSp>
      <p:sp>
        <p:nvSpPr>
          <p:cNvPr id="28" name="">
            <a:extLst xmlns:a="http://schemas.openxmlformats.org/drawingml/2006/main">
              <a:ext uri="{FF2B5EF4-FFF2-40B4-BE49-F238E27FC236}">
                <a16:creationId xmlns:a16="http://schemas.microsoft.com/office/drawing/2014/main" id="{85B2F87F-C17B-4FEC-89CC-6B114760AC5E}"/>
              </a:ext>
            </a:extLst>
          </p:cNvPr>
          <p:cNvSpPr>
            <a:spLocks xmlns:a="http://schemas.openxmlformats.org/drawingml/2006/main" noGrp="1"/>
          </p:cNvSpPr>
          <p:nvPr/>
        </p:nvSpPr>
        <p:spPr>
          <a:xfrm xmlns:a="http://schemas.openxmlformats.org/drawingml/2006/main">
            <a:off x="685800" y="39052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Bảo vệ dữ liệu nhịp gõ</a:t>
            </a:r>
          </a:p>
        </p:txBody>
      </p:sp>
      <p:sp>
        <p:nvSpPr>
          <p:cNvPr id="29" name="">
            <a:extLst xmlns:a="http://schemas.openxmlformats.org/drawingml/2006/main">
              <a:ext uri="{FF2B5EF4-FFF2-40B4-BE49-F238E27FC236}">
                <a16:creationId xmlns:a16="http://schemas.microsoft.com/office/drawing/2014/main" id="{016E79B9-BE4B-4B29-9290-4581E7529DA9}"/>
              </a:ext>
            </a:extLst>
          </p:cNvPr>
          <p:cNvSpPr>
            <a:spLocks xmlns:a="http://schemas.openxmlformats.org/drawingml/2006/main" noGrp="1"/>
          </p:cNvSpPr>
          <p:nvPr/>
        </p:nvSpPr>
        <p:spPr>
          <a:xfrm xmlns:a="http://schemas.openxmlformats.org/drawingml/2006/main">
            <a:off x="685800" y="4419600"/>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Không lưu nội dung người tham gia gõ.</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Mã hóa kênh truyền. Mỗi gói có nonce và số thứ tự.</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Gán mã người tham gia, tách phiếu đồng thuận khỏi dữ liệu phân tích.</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Chỉ cập nhật hồ sơ từ cửa sổ sau khi MFA thành công.</a:t>
            </a:r>
          </a:p>
        </p:txBody>
      </p:sp>
      <p:sp>
        <p:nvSpPr>
          <p:cNvPr id="30" name="">
            <a:extLst xmlns:a="http://schemas.openxmlformats.org/drawingml/2006/main">
              <a:ext uri="{FF2B5EF4-FFF2-40B4-BE49-F238E27FC236}">
                <a16:creationId xmlns:a16="http://schemas.microsoft.com/office/drawing/2014/main" id="{25E6FD2D-7F67-4852-8AA0-B5921AA335F8}"/>
              </a:ext>
            </a:extLst>
          </p:cNvPr>
          <p:cNvSpPr>
            <a:spLocks xmlns:a="http://schemas.openxmlformats.org/drawingml/2006/main" noGrp="1"/>
          </p:cNvSpPr>
          <p:nvPr/>
        </p:nvSpPr>
        <p:spPr>
          <a:xfrm xmlns:a="http://schemas.openxmlformats.org/drawingml/2006/main">
            <a:off x="628650" y="6496050"/>
            <a:ext cx="962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NIST SP 800-63B-4 yêu cầu xem xét rủi ro riêng tư khi giám sát phiên</a:t>
            </a:r>
          </a:p>
        </p:txBody>
      </p:sp>
      <p:sp>
        <p:nvSpPr>
          <p:cNvPr id="31" name="">
            <a:extLst xmlns:a="http://schemas.openxmlformats.org/drawingml/2006/main">
              <a:ext uri="{FF2B5EF4-FFF2-40B4-BE49-F238E27FC236}">
                <a16:creationId xmlns:a16="http://schemas.microsoft.com/office/drawing/2014/main" id="{F1D55044-4F7E-4A9E-A207-909DB869FBCB}"/>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19277283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630A7E-AD97-4F1E-A4AA-0D618E4B54E9}"/>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Kế hoạch thực hiện và phương án lùi</a:t>
            </a:r>
          </a:p>
        </p:txBody>
      </p:sp>
      <p:sp>
        <p:nvSpPr>
          <p:cNvPr id="2" name="">
            <a:extLst xmlns:a="http://schemas.openxmlformats.org/drawingml/2006/main">
              <a:ext uri="{FF2B5EF4-FFF2-40B4-BE49-F238E27FC236}">
                <a16:creationId xmlns:a16="http://schemas.microsoft.com/office/drawing/2014/main" id="{3EC1E5E8-A488-400B-92B3-60A4F810CF06}"/>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E65ACA7A-7ED8-44AB-A89F-01415E247582}"/>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12</a:t>
            </a:r>
          </a:p>
        </p:txBody>
      </p:sp>
      <p:graphicFrame>
        <p:nvGraphicFramePr>
          <p:cNvPr id="16" name=""/>
          <p:cNvGraphicFramePr/>
          <p:nvPr/>
        </p:nvGraphicFramePr>
        <p:xfrm>
          <a:off xmlns:a="http://schemas.openxmlformats.org/drawingml/2006/main" x="666750" y="1285875"/>
          <a:ext xmlns:a="http://schemas.openxmlformats.org/drawingml/2006/main" cx="7239000" cy="4514850"/>
        </p:xfrm>
        <a:graphic xmlns:a="http://schemas.openxmlformats.org/drawingml/2006/main">
          <a:graphicData uri="http://schemas.openxmlformats.org/drawingml/2006/table">
            <a:tbl>
              <a:tblPr/>
              <a:tblGrid>
                <a:gridCol w="685800"/>
                <a:gridCol w="3476625"/>
                <a:gridCol w="3076575"/>
              </a:tblGrid>
              <a:tr h="644979">
                <a:tc>
                  <a:txBody>
                    <a:bodyPr/>
                    <a:lstStyle/>
                    <a:p>
                      <a:r>
                        <a:t>Tuần</a:t>
                      </a:r>
                    </a:p>
                  </a:txBody>
                  <a:tcPr marL="91440" marR="91440" marT="45720" marB="45720"/>
                </a:tc>
                <a:tc>
                  <a:txBody>
                    <a:bodyPr/>
                    <a:lstStyle/>
                    <a:p>
                      <a:r>
                        <a:t>Công việc</a:t>
                      </a:r>
                    </a:p>
                  </a:txBody>
                  <a:tcPr marL="91440" marR="91440" marT="45720" marB="45720"/>
                </a:tc>
                <a:tc>
                  <a:txBody>
                    <a:bodyPr/>
                    <a:lstStyle/>
                    <a:p>
                      <a:r>
                        <a:t>Kết quả kiểm tra</a:t>
                      </a:r>
                    </a:p>
                  </a:txBody>
                  <a:tcPr marL="91440" marR="91440" marT="45720" marB="45720"/>
                </a:tc>
              </a:tr>
              <a:tr h="644979">
                <a:tc>
                  <a:txBody>
                    <a:bodyPr/>
                    <a:lstStyle/>
                    <a:p>
                      <a:r>
                        <a:t>1</a:t>
                      </a:r>
                    </a:p>
                  </a:txBody>
                  <a:tcPr marL="91440" marR="91440" marT="45720" marB="45720"/>
                </a:tc>
                <a:tc>
                  <a:txBody>
                    <a:bodyPr/>
                    <a:lstStyle/>
                    <a:p>
                      <a:r>
                        <a:t>Chốt mô hình đe dọa, phiếu đồng thuận, cấu trúc dữ liệu</a:t>
                      </a:r>
                    </a:p>
                  </a:txBody>
                  <a:tcPr marL="91440" marR="91440" marT="45720" marB="45720"/>
                </a:tc>
                <a:tc>
                  <a:txBody>
                    <a:bodyPr/>
                    <a:lstStyle/>
                    <a:p>
                      <a:r>
                        <a:t>Thu thử được dữ liệu và không lưu nội dung</a:t>
                      </a:r>
                    </a:p>
                  </a:txBody>
                  <a:tcPr marL="91440" marR="91440" marT="45720" marB="45720"/>
                </a:tc>
              </a:tr>
              <a:tr h="644979">
                <a:tc>
                  <a:txBody>
                    <a:bodyPr/>
                    <a:lstStyle/>
                    <a:p>
                      <a:r>
                        <a:t>2</a:t>
                      </a:r>
                    </a:p>
                  </a:txBody>
                  <a:tcPr marL="91440" marR="91440" marT="45720" marB="45720"/>
                </a:tc>
                <a:tc>
                  <a:txBody>
                    <a:bodyPr/>
                    <a:lstStyle/>
                    <a:p>
                      <a:r>
                        <a:t>Bộ thu sự kiện, trích đặc trưng, kiểm tra nonce và số thứ tự</a:t>
                      </a:r>
                    </a:p>
                  </a:txBody>
                  <a:tcPr marL="91440" marR="91440" marT="45720" marB="45720"/>
                </a:tc>
                <a:tc>
                  <a:txBody>
                    <a:bodyPr/>
                    <a:lstStyle/>
                    <a:p>
                      <a:r>
                        <a:t>Gói phát lại bị từ chối</a:t>
                      </a:r>
                    </a:p>
                  </a:txBody>
                  <a:tcPr marL="91440" marR="91440" marT="45720" marB="45720"/>
                </a:tc>
              </a:tr>
              <a:tr h="644979">
                <a:tc>
                  <a:txBody>
                    <a:bodyPr/>
                    <a:lstStyle/>
                    <a:p>
                      <a:r>
                        <a:t>3</a:t>
                      </a:r>
                    </a:p>
                  </a:txBody>
                  <a:tcPr marL="91440" marR="91440" marT="45720" marB="45720"/>
                </a:tc>
                <a:tc>
                  <a:txBody>
                    <a:bodyPr/>
                    <a:lstStyle/>
                    <a:p>
                      <a:r>
                        <a:t>Thu dữ liệu tạo hồ sơ, huấn luyện IF và OCSVM</a:t>
                      </a:r>
                    </a:p>
                  </a:txBody>
                  <a:tcPr marL="91440" marR="91440" marT="45720" marB="45720"/>
                </a:tc>
                <a:tc>
                  <a:txBody>
                    <a:bodyPr/>
                    <a:lstStyle/>
                    <a:p>
                      <a:r>
                        <a:t>Có mốc EER theo từng người</a:t>
                      </a:r>
                    </a:p>
                  </a:txBody>
                  <a:tcPr marL="91440" marR="91440" marT="45720" marB="45720"/>
                </a:tc>
              </a:tr>
              <a:tr h="644979">
                <a:tc>
                  <a:txBody>
                    <a:bodyPr/>
                    <a:lstStyle/>
                    <a:p>
                      <a:r>
                        <a:t>4</a:t>
                      </a:r>
                    </a:p>
                  </a:txBody>
                  <a:tcPr marL="91440" marR="91440" marT="45720" marB="45720"/>
                </a:tc>
                <a:tc>
                  <a:txBody>
                    <a:bodyPr/>
                    <a:lstStyle/>
                    <a:p>
                      <a:r>
                        <a:t>Cài CUSUM có hệ số quên, chọn ngưỡng trên tập hiệu chỉnh</a:t>
                      </a:r>
                    </a:p>
                  </a:txBody>
                  <a:tcPr marL="91440" marR="91440" marT="45720" marB="45720"/>
                </a:tc>
                <a:tc>
                  <a:txBody>
                    <a:bodyPr/>
                    <a:lstStyle/>
                    <a:p>
                      <a:r>
                        <a:t>Tái lập được B0, B1, P1</a:t>
                      </a:r>
                    </a:p>
                  </a:txBody>
                  <a:tcPr marL="91440" marR="91440" marT="45720" marB="45720"/>
                </a:tc>
              </a:tr>
              <a:tr h="644979">
                <a:tc>
                  <a:txBody>
                    <a:bodyPr/>
                    <a:lstStyle/>
                    <a:p>
                      <a:r>
                        <a:t>5</a:t>
                      </a:r>
                    </a:p>
                  </a:txBody>
                  <a:tcPr marL="91440" marR="91440" marT="45720" marB="45720"/>
                </a:tc>
                <a:tc>
                  <a:txBody>
                    <a:bodyPr/>
                    <a:lstStyle/>
                    <a:p>
                      <a:r>
                        <a:t>Kiểm thử qua nhiều phiên, bắt chước, độ trôi và P2</a:t>
                      </a:r>
                    </a:p>
                  </a:txBody>
                  <a:tcPr marL="91440" marR="91440" marT="45720" marB="45720"/>
                </a:tc>
                <a:tc>
                  <a:txBody>
                    <a:bodyPr/>
                    <a:lstStyle/>
                    <a:p>
                      <a:r>
                        <a:t>Có nhật ký đầy đủ cho mọi cấu hình</a:t>
                      </a:r>
                    </a:p>
                  </a:txBody>
                  <a:tcPr marL="91440" marR="91440" marT="45720" marB="45720"/>
                </a:tc>
              </a:tr>
              <a:tr h="644979">
                <a:tc>
                  <a:txBody>
                    <a:bodyPr/>
                    <a:lstStyle/>
                    <a:p>
                      <a:r>
                        <a:t>6</a:t>
                      </a:r>
                    </a:p>
                  </a:txBody>
                  <a:tcPr marL="91440" marR="91440" marT="45720" marB="45720"/>
                </a:tc>
                <a:tc>
                  <a:txBody>
                    <a:bodyPr/>
                    <a:lstStyle/>
                    <a:p>
                      <a:r>
                        <a:t>Phân tích, khoảng tin cậy, demo và báo cáo</a:t>
                      </a:r>
                    </a:p>
                  </a:txBody>
                  <a:tcPr marL="91440" marR="91440" marT="45720" marB="45720"/>
                </a:tc>
                <a:tc>
                  <a:txBody>
                    <a:bodyPr/>
                    <a:lstStyle/>
                    <a:p>
                      <a:r>
                        <a:t>Bảng kết quả và mã tái lập</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192252D-B361-4270-80BA-C5C16EA6D0F3}"/>
              </a:ext>
            </a:extLst>
          </p:cNvPr>
          <p:cNvSpPr>
            <a:spLocks xmlns:a="http://schemas.openxmlformats.org/drawingml/2006/main" noGrp="1"/>
          </p:cNvSpPr>
          <p:nvPr/>
        </p:nvSpPr>
        <p:spPr>
          <a:xfrm xmlns:a="http://schemas.openxmlformats.org/drawingml/2006/main">
            <a:off x="8362950" y="13335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Cổng quyết định</a:t>
            </a:r>
          </a:p>
        </p:txBody>
      </p:sp>
      <p:sp>
        <p:nvSpPr>
          <p:cNvPr id="6" name="">
            <a:extLst xmlns:a="http://schemas.openxmlformats.org/drawingml/2006/main">
              <a:ext uri="{FF2B5EF4-FFF2-40B4-BE49-F238E27FC236}">
                <a16:creationId xmlns:a16="http://schemas.microsoft.com/office/drawing/2014/main" id="{539E37DA-82ED-48EF-9CEB-AEF18FBFCF6E}"/>
              </a:ext>
            </a:extLst>
          </p:cNvPr>
          <p:cNvSpPr>
            <a:spLocks xmlns:a="http://schemas.openxmlformats.org/drawingml/2006/main" noGrp="1"/>
          </p:cNvSpPr>
          <p:nvPr/>
        </p:nvSpPr>
        <p:spPr>
          <a:xfrm xmlns:a="http://schemas.openxmlformats.org/drawingml/2006/main">
            <a:off x="8362950" y="19240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500" b="1" i="0">
                <a:solidFill>
                  <a:srgbClr val="16845B"/>
                </a:solidFill>
                <a:latin typeface="Segoe UI"/>
                <a:ea typeface="Segoe UI"/>
                <a:cs typeface="Segoe UI"/>
              </a:defRPr>
            </a:pPr>
            <a:r>
              <a:rPr sz="1500" b="1" i="0">
                <a:solidFill>
                  <a:srgbClr val="16845B"/>
                </a:solidFill>
                <a:latin typeface="Segoe UI"/>
                <a:ea typeface="Segoe UI"/>
                <a:cs typeface="Segoe UI"/>
              </a:rPr>
              <a:t>Tiếp tục kế hoạch</a:t>
            </a:r>
          </a:p>
        </p:txBody>
      </p:sp>
      <p:sp>
        <p:nvSpPr>
          <p:cNvPr id="7" name="">
            <a:extLst xmlns:a="http://schemas.openxmlformats.org/drawingml/2006/main">
              <a:ext uri="{FF2B5EF4-FFF2-40B4-BE49-F238E27FC236}">
                <a16:creationId xmlns:a16="http://schemas.microsoft.com/office/drawing/2014/main" id="{2546D178-ED83-4D88-93B3-E774D609899B}"/>
              </a:ext>
            </a:extLst>
          </p:cNvPr>
          <p:cNvSpPr>
            <a:spLocks xmlns:a="http://schemas.openxmlformats.org/drawingml/2006/main" noGrp="1"/>
          </p:cNvSpPr>
          <p:nvPr/>
        </p:nvSpPr>
        <p:spPr>
          <a:xfrm xmlns:a="http://schemas.openxmlformats.org/drawingml/2006/main">
            <a:off x="8362950" y="22669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EER ≤ 15% và median TTD ≤ 150 phím ở A1.</a:t>
            </a:r>
          </a:p>
        </p:txBody>
      </p:sp>
      <p:sp>
        <p:nvSpPr>
          <p:cNvPr id="8" name="">
            <a:extLst xmlns:a="http://schemas.openxmlformats.org/drawingml/2006/main">
              <a:ext uri="{FF2B5EF4-FFF2-40B4-BE49-F238E27FC236}">
                <a16:creationId xmlns:a16="http://schemas.microsoft.com/office/drawing/2014/main" id="{4F69D2A2-8EB3-4FC9-B789-29892453C76B}"/>
              </a:ext>
            </a:extLst>
          </p:cNvPr>
          <p:cNvSpPr>
            <a:spLocks xmlns:a="http://schemas.openxmlformats.org/drawingml/2006/main" noGrp="1"/>
          </p:cNvSpPr>
          <p:nvPr/>
        </p:nvSpPr>
        <p:spPr>
          <a:xfrm xmlns:a="http://schemas.openxmlformats.org/drawingml/2006/main">
            <a:off x="8362950" y="31432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500" b="1" i="0">
                <a:solidFill>
                  <a:srgbClr val="B86B00"/>
                </a:solidFill>
                <a:latin typeface="Segoe UI"/>
                <a:ea typeface="Segoe UI"/>
                <a:cs typeface="Segoe UI"/>
              </a:defRPr>
            </a:pPr>
            <a:r>
              <a:rPr sz="1500" b="1" i="0">
                <a:solidFill>
                  <a:srgbClr val="B86B00"/>
                </a:solidFill>
                <a:latin typeface="Segoe UI"/>
                <a:ea typeface="Segoe UI"/>
                <a:cs typeface="Segoe UI"/>
              </a:rPr>
              <a:t>Thu hẹp</a:t>
            </a:r>
          </a:p>
        </p:txBody>
      </p:sp>
      <p:sp>
        <p:nvSpPr>
          <p:cNvPr id="9" name="">
            <a:extLst xmlns:a="http://schemas.openxmlformats.org/drawingml/2006/main">
              <a:ext uri="{FF2B5EF4-FFF2-40B4-BE49-F238E27FC236}">
                <a16:creationId xmlns:a16="http://schemas.microsoft.com/office/drawing/2014/main" id="{5DE737EE-E593-410F-B44A-2C39210BC002}"/>
              </a:ext>
            </a:extLst>
          </p:cNvPr>
          <p:cNvSpPr>
            <a:spLocks xmlns:a="http://schemas.openxmlformats.org/drawingml/2006/main" noGrp="1"/>
          </p:cNvSpPr>
          <p:nvPr/>
        </p:nvSpPr>
        <p:spPr>
          <a:xfrm xmlns:a="http://schemas.openxmlformats.org/drawingml/2006/main">
            <a:off x="8362950" y="34861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Nếu EER 15–25%, giữ CUSUM nhưng thêm IP hoặc đặc trưng thiết bị làm tín hiệu phụ.</a:t>
            </a:r>
          </a:p>
        </p:txBody>
      </p:sp>
      <p:sp>
        <p:nvSpPr>
          <p:cNvPr id="10" name="">
            <a:extLst xmlns:a="http://schemas.openxmlformats.org/drawingml/2006/main">
              <a:ext uri="{FF2B5EF4-FFF2-40B4-BE49-F238E27FC236}">
                <a16:creationId xmlns:a16="http://schemas.microsoft.com/office/drawing/2014/main" id="{CD151716-56CC-4C3F-9D77-140422F0F185}"/>
              </a:ext>
            </a:extLst>
          </p:cNvPr>
          <p:cNvSpPr>
            <a:spLocks xmlns:a="http://schemas.openxmlformats.org/drawingml/2006/main" noGrp="1"/>
          </p:cNvSpPr>
          <p:nvPr/>
        </p:nvSpPr>
        <p:spPr>
          <a:xfrm xmlns:a="http://schemas.openxmlformats.org/drawingml/2006/main">
            <a:off x="8362950" y="46101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500" b="1" i="0">
                <a:solidFill>
                  <a:srgbClr val="B83C48"/>
                </a:solidFill>
                <a:latin typeface="Segoe UI"/>
                <a:ea typeface="Segoe UI"/>
                <a:cs typeface="Segoe UI"/>
              </a:defRPr>
            </a:pPr>
            <a:r>
              <a:rPr sz="1500" b="1" i="0">
                <a:solidFill>
                  <a:srgbClr val="B83C48"/>
                </a:solidFill>
                <a:latin typeface="Segoe UI"/>
                <a:ea typeface="Segoe UI"/>
                <a:cs typeface="Segoe UI"/>
              </a:rPr>
              <a:t>Phương án lùi</a:t>
            </a:r>
          </a:p>
        </p:txBody>
      </p:sp>
      <p:sp>
        <p:nvSpPr>
          <p:cNvPr id="11" name="">
            <a:extLst xmlns:a="http://schemas.openxmlformats.org/drawingml/2006/main">
              <a:ext uri="{FF2B5EF4-FFF2-40B4-BE49-F238E27FC236}">
                <a16:creationId xmlns:a16="http://schemas.microsoft.com/office/drawing/2014/main" id="{783BDC95-F849-405C-95E3-F903AAD4CABB}"/>
              </a:ext>
            </a:extLst>
          </p:cNvPr>
          <p:cNvSpPr>
            <a:spLocks xmlns:a="http://schemas.openxmlformats.org/drawingml/2006/main" noGrp="1"/>
          </p:cNvSpPr>
          <p:nvPr/>
        </p:nvSpPr>
        <p:spPr>
          <a:xfrm xmlns:a="http://schemas.openxmlformats.org/drawingml/2006/main">
            <a:off x="8362950" y="4953000"/>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87560"/>
          </a:bodyPr>
          <a:lstStyle xmlns:a="http://schemas.openxmlformats.org/drawingml/2006/main"/>
          <a:p xmlns:a="http://schemas.openxmlformats.org/drawingml/2006/main">
            <a:pPr algn="l">
              <a:lnSpc>
                <a:spcPct val="108000"/>
              </a:lnSpc>
              <a:buNone/>
              <a:defRPr sz="1425" b="0" i="0">
                <a:solidFill>
                  <a:srgbClr val="142033"/>
                </a:solidFill>
                <a:latin typeface="Segoe UI"/>
                <a:ea typeface="Segoe UI"/>
                <a:cs typeface="Segoe UI"/>
              </a:defRPr>
            </a:pPr>
            <a:r>
              <a:rPr sz="1425" b="0" i="0">
                <a:solidFill>
                  <a:srgbClr val="142033"/>
                </a:solidFill>
                <a:latin typeface="Segoe UI"/>
                <a:ea typeface="Segoe UI"/>
                <a:cs typeface="Segoe UI"/>
              </a:rPr>
              <a:t>Nếu EER &gt; 25%, chuyển trọng tâm sang quy trình đánh giá nhiều tín hiệu. Nhịp gõ trở thành một đặc trưng.</a:t>
            </a:r>
          </a:p>
        </p:txBody>
      </p:sp>
      <p:sp>
        <p:nvSpPr>
          <p:cNvPr id="12" name="">
            <a:extLst xmlns:a="http://schemas.openxmlformats.org/drawingml/2006/main">
              <a:ext uri="{FF2B5EF4-FFF2-40B4-BE49-F238E27FC236}">
                <a16:creationId xmlns:a16="http://schemas.microsoft.com/office/drawing/2014/main" id="{17F0FEF2-B4FC-4D43-BE1F-972A95AE6C5E}"/>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11793165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D2F68F-980F-4C3E-8107-9F4BEC9CCCA8}"/>
              </a:ext>
            </a:extLst>
          </p:cNvPr>
          <p:cNvSpPr>
            <a:spLocks xmlns:a="http://schemas.openxmlformats.org/drawingml/2006/main" noGrp="1"/>
          </p:cNvSpPr>
          <p:nvPr/>
        </p:nvSpPr>
        <p:spPr>
          <a:xfrm xmlns:a="http://schemas.openxmlformats.org/drawingml/2006/main">
            <a:off x="628650" y="361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8000"/>
              </a:lnSpc>
              <a:buNone/>
              <a:defRPr sz="2700" b="1" i="0">
                <a:solidFill>
                  <a:srgbClr val="102A56"/>
                </a:solidFill>
                <a:latin typeface="Segoe UI"/>
                <a:ea typeface="Segoe UI"/>
                <a:cs typeface="Segoe UI"/>
              </a:defRPr>
            </a:pPr>
            <a:r>
              <a:rPr sz="2700" b="1" i="0">
                <a:solidFill>
                  <a:srgbClr val="102A56"/>
                </a:solidFill>
                <a:latin typeface="Segoe UI"/>
                <a:ea typeface="Segoe UI"/>
                <a:cs typeface="Segoe UI"/>
              </a:rPr>
              <a:t>Kết quả và tài liệu tham khảo</a:t>
            </a:r>
          </a:p>
        </p:txBody>
      </p:sp>
      <p:sp>
        <p:nvSpPr>
          <p:cNvPr id="2" name="">
            <a:extLst xmlns:a="http://schemas.openxmlformats.org/drawingml/2006/main">
              <a:ext uri="{FF2B5EF4-FFF2-40B4-BE49-F238E27FC236}">
                <a16:creationId xmlns:a16="http://schemas.microsoft.com/office/drawing/2014/main" id="{9D268D61-DDF7-434F-932E-0A8F041E0D07}"/>
              </a:ext>
            </a:extLst>
          </p:cNvPr>
          <p:cNvSpPr>
            <a:spLocks xmlns:a="http://schemas.openxmlformats.org/drawingml/2006/main" noGrp="1"/>
          </p:cNvSpPr>
          <p:nvPr/>
        </p:nvSpPr>
        <p:spPr>
          <a:xfrm xmlns:a="http://schemas.openxmlformats.org/drawingml/2006/main">
            <a:off x="628650" y="971550"/>
            <a:ext cx="10934700" cy="0"/>
          </a:xfrm>
          <a:prstGeom xmlns:a="http://schemas.openxmlformats.org/drawingml/2006/main" prst="line">
            <a:avLst/>
          </a:prstGeom>
          <a:noFill xmlns:a="http://schemas.openxmlformats.org/drawingml/2006/main"/>
          <a:ln xmlns:a="http://schemas.openxmlformats.org/drawingml/2006/main" w="19050">
            <a:solidFill>
              <a:srgbClr val="2457C5"/>
            </a:solidFill>
            <a:prstDash val="solid"/>
          </a:ln>
        </p:spPr>
      </p:sp>
      <p:sp>
        <p:nvSpPr>
          <p:cNvPr id="3" name="">
            <a:extLst xmlns:a="http://schemas.openxmlformats.org/drawingml/2006/main">
              <a:ext uri="{FF2B5EF4-FFF2-40B4-BE49-F238E27FC236}">
                <a16:creationId xmlns:a16="http://schemas.microsoft.com/office/drawing/2014/main" id="{BA92042D-9D68-47E5-A60B-C151F6EB0BE4}"/>
              </a:ext>
            </a:extLst>
          </p:cNvPr>
          <p:cNvSpPr>
            <a:spLocks xmlns:a="http://schemas.openxmlformats.org/drawingml/2006/main" noGrp="1"/>
          </p:cNvSpPr>
          <p:nvPr/>
        </p:nvSpPr>
        <p:spPr>
          <a:xfrm xmlns:a="http://schemas.openxmlformats.org/drawingml/2006/main">
            <a:off x="11144250" y="4476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r">
              <a:lnSpc>
                <a:spcPct val="108000"/>
              </a:lnSpc>
              <a:buNone/>
              <a:defRPr sz="1275" b="0" i="0">
                <a:solidFill>
                  <a:srgbClr val="506079"/>
                </a:solidFill>
                <a:latin typeface="Segoe UI"/>
                <a:ea typeface="Segoe UI"/>
                <a:cs typeface="Segoe UI"/>
              </a:defRPr>
            </a:pPr>
            <a:r>
              <a:rPr sz="1275" b="0" i="0">
                <a:solidFill>
                  <a:srgbClr val="506079"/>
                </a:solidFill>
                <a:latin typeface="Segoe UI"/>
                <a:ea typeface="Segoe UI"/>
                <a:cs typeface="Segoe UI"/>
              </a:rPr>
              <a:t>13</a:t>
            </a:r>
          </a:p>
        </p:txBody>
      </p:sp>
      <p:sp>
        <p:nvSpPr>
          <p:cNvPr id="4" name="">
            <a:extLst xmlns:a="http://schemas.openxmlformats.org/drawingml/2006/main">
              <a:ext uri="{FF2B5EF4-FFF2-40B4-BE49-F238E27FC236}">
                <a16:creationId xmlns:a16="http://schemas.microsoft.com/office/drawing/2014/main" id="{498E7493-4105-446A-8863-5E48C2B99600}"/>
              </a:ext>
            </a:extLst>
          </p:cNvPr>
          <p:cNvSpPr>
            <a:spLocks xmlns:a="http://schemas.openxmlformats.org/drawingml/2006/main" noGrp="1"/>
          </p:cNvSpPr>
          <p:nvPr/>
        </p:nvSpPr>
        <p:spPr>
          <a:xfrm xmlns:a="http://schemas.openxmlformats.org/drawingml/2006/main">
            <a:off x="685800" y="12573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Sản phẩm của nhóm</a:t>
            </a:r>
          </a:p>
        </p:txBody>
      </p:sp>
      <p:sp>
        <p:nvSpPr>
          <p:cNvPr id="5" name="">
            <a:extLst xmlns:a="http://schemas.openxmlformats.org/drawingml/2006/main">
              <a:ext uri="{FF2B5EF4-FFF2-40B4-BE49-F238E27FC236}">
                <a16:creationId xmlns:a16="http://schemas.microsoft.com/office/drawing/2014/main" id="{A5F560D4-E487-4CCB-BBF6-81144E03972A}"/>
              </a:ext>
            </a:extLst>
          </p:cNvPr>
          <p:cNvSpPr>
            <a:spLocks xmlns:a="http://schemas.openxmlformats.org/drawingml/2006/main" noGrp="1"/>
          </p:cNvSpPr>
          <p:nvPr/>
        </p:nvSpPr>
        <p:spPr>
          <a:xfrm xmlns:a="http://schemas.openxmlformats.org/drawingml/2006/main">
            <a:off x="685800" y="175260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Trang web thu sự kiện và dịch vụ điều khiển phiên.</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Bộ dữ liệu đã ẩn danh, kèm quy tắc chia tập huấn luyện, hiệu chỉnh và kiểm thử.</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Bốn cấu hình B0, B1, P1, P2 và bộ tạo tấn công.</a:t>
            </a:r>
          </a:p>
          <a:p xmlns:a="http://schemas.openxmlformats.org/drawingml/2006/main">
            <a:pPr marL="254000" indent="-139700">
              <a:lnSpc>
                <a:spcPct val="106000"/>
              </a:lnSpc>
              <a:spcAft>
                <a:spcPts val="850"/>
              </a:spcAft>
              <a:buNone/>
              <a:defRPr sz="1575">
                <a:solidFill>
                  <a:srgbClr val="142033"/>
                </a:solidFill>
                <a:latin typeface="Segoe UI"/>
                <a:ea typeface="Segoe UI"/>
                <a:cs typeface="Segoe UI"/>
              </a:defRPr>
            </a:pPr>
            <a:r>
              <a:rPr sz="1575">
                <a:solidFill>
                  <a:srgbClr val="142033"/>
                </a:solidFill>
                <a:latin typeface="Segoe UI"/>
                <a:ea typeface="Segoe UI"/>
                <a:cs typeface="Segoe UI"/>
              </a:rPr>
              <a:t>Báo cáo sự đánh đổi giữa TTD và số lần MFA mỗi giờ, có khoảng tin cậy.</a:t>
            </a:r>
          </a:p>
        </p:txBody>
      </p:sp>
      <p:sp>
        <p:nvSpPr>
          <p:cNvPr id="6" name="">
            <a:extLst xmlns:a="http://schemas.openxmlformats.org/drawingml/2006/main">
              <a:ext uri="{FF2B5EF4-FFF2-40B4-BE49-F238E27FC236}">
                <a16:creationId xmlns:a16="http://schemas.microsoft.com/office/drawing/2014/main" id="{34D0E35C-2E62-499B-BC04-950D14A24E47}"/>
              </a:ext>
            </a:extLst>
          </p:cNvPr>
          <p:cNvSpPr>
            <a:spLocks xmlns:a="http://schemas.openxmlformats.org/drawingml/2006/main" noGrp="1"/>
          </p:cNvSpPr>
          <p:nvPr/>
        </p:nvSpPr>
        <p:spPr>
          <a:xfrm xmlns:a="http://schemas.openxmlformats.org/drawingml/2006/main">
            <a:off x="685800" y="4552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2593"/>
          </a:bodyPr>
          <a:lstStyle xmlns:a="http://schemas.openxmlformats.org/drawingml/2006/main"/>
          <a:p xmlns:a="http://schemas.openxmlformats.org/drawingml/2006/main">
            <a:pPr algn="l">
              <a:lnSpc>
                <a:spcPct val="108000"/>
              </a:lnSpc>
              <a:buNone/>
              <a:defRPr sz="1875" b="1" i="0">
                <a:solidFill>
                  <a:srgbClr val="102A56"/>
                </a:solidFill>
                <a:latin typeface="Segoe UI"/>
                <a:ea typeface="Segoe UI"/>
                <a:cs typeface="Segoe UI"/>
              </a:defRPr>
            </a:pPr>
            <a:r>
              <a:rPr sz="1875" b="1" i="0">
                <a:solidFill>
                  <a:srgbClr val="102A56"/>
                </a:solidFill>
                <a:latin typeface="Segoe UI"/>
                <a:ea typeface="Segoe UI"/>
                <a:cs typeface="Segoe UI"/>
              </a:rPr>
              <a:t>Đóng góp cần kiểm chứng</a:t>
            </a:r>
          </a:p>
        </p:txBody>
      </p:sp>
      <p:sp>
        <p:nvSpPr>
          <p:cNvPr id="7" name="">
            <a:extLst xmlns:a="http://schemas.openxmlformats.org/drawingml/2006/main">
              <a:ext uri="{FF2B5EF4-FFF2-40B4-BE49-F238E27FC236}">
                <a16:creationId xmlns:a16="http://schemas.microsoft.com/office/drawing/2014/main" id="{CC99D524-5486-4417-B608-3441169155B7}"/>
              </a:ext>
            </a:extLst>
          </p:cNvPr>
          <p:cNvSpPr>
            <a:spLocks xmlns:a="http://schemas.openxmlformats.org/drawingml/2006/main" noGrp="1"/>
          </p:cNvSpPr>
          <p:nvPr/>
        </p:nvSpPr>
        <p:spPr>
          <a:xfrm xmlns:a="http://schemas.openxmlformats.org/drawingml/2006/main">
            <a:off x="685800" y="50101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3670"/>
          </a:bodyPr>
          <a:lstStyle xmlns:a="http://schemas.openxmlformats.org/drawingml/2006/main"/>
          <a:p xmlns:a="http://schemas.openxmlformats.org/drawingml/2006/main">
            <a:pPr algn="l">
              <a:lnSpc>
                <a:spcPct val="108000"/>
              </a:lnSpc>
              <a:buNone/>
              <a:defRPr sz="1650" b="1" i="0">
                <a:solidFill>
                  <a:srgbClr val="142033"/>
                </a:solidFill>
                <a:latin typeface="Segoe UI"/>
                <a:ea typeface="Segoe UI"/>
                <a:cs typeface="Segoe UI"/>
              </a:defRPr>
            </a:pPr>
            <a:r>
              <a:rPr sz="1650" b="1" i="0">
                <a:solidFill>
                  <a:srgbClr val="142033"/>
                </a:solidFill>
                <a:latin typeface="Segoe UI"/>
                <a:ea typeface="Segoe UI"/>
                <a:cs typeface="Segoe UI"/>
              </a:rPr>
              <a:t>Một quy trình thực nghiệm cho biết ngưỡng theo từng người và việc cập nhật sau MFA có giảm phiền toái mà không làm chậm phát hiện hay không.</a:t>
            </a:r>
          </a:p>
        </p:txBody>
      </p:sp>
      <p:sp>
        <p:nvSpPr>
          <p:cNvPr id="8" name="">
            <a:extLst xmlns:a="http://schemas.openxmlformats.org/drawingml/2006/main">
              <a:ext uri="{FF2B5EF4-FFF2-40B4-BE49-F238E27FC236}">
                <a16:creationId xmlns:a16="http://schemas.microsoft.com/office/drawing/2014/main" id="{45C5976F-F7C4-49EF-900C-573D9A7298D7}"/>
              </a:ext>
            </a:extLst>
          </p:cNvPr>
          <p:cNvSpPr>
            <a:spLocks xmlns:a="http://schemas.openxmlformats.org/drawingml/2006/main" noGrp="1"/>
          </p:cNvSpPr>
          <p:nvPr/>
        </p:nvSpPr>
        <p:spPr>
          <a:xfrm xmlns:a="http://schemas.openxmlformats.org/drawingml/2006/main">
            <a:off x="6000750" y="1257300"/>
            <a:ext cx="5524500" cy="4810125"/>
          </a:xfrm>
          <a:prstGeom xmlns:a="http://schemas.openxmlformats.org/drawingml/2006/main" prst="roundRect">
            <a:avLst>
              <a:gd name="adj" fmla="val 1980"/>
            </a:avLst>
          </a:prstGeom>
          <a:solidFill xmlns:a="http://schemas.openxmlformats.org/drawingml/2006/main">
            <a:srgbClr val="F7F9FC"/>
          </a:solidFill>
          <a:ln xmlns:a="http://schemas.openxmlformats.org/drawingml/2006/main" w="9525">
            <a:solidFill>
              <a:srgbClr val="D7E0EC"/>
            </a:solidFill>
            <a:prstDash val="solid"/>
          </a:ln>
        </p:spPr>
      </p:sp>
      <p:sp>
        <p:nvSpPr>
          <p:cNvPr id="9" name="">
            <a:extLst xmlns:a="http://schemas.openxmlformats.org/drawingml/2006/main">
              <a:ext uri="{FF2B5EF4-FFF2-40B4-BE49-F238E27FC236}">
                <a16:creationId xmlns:a16="http://schemas.microsoft.com/office/drawing/2014/main" id="{9619619B-68C0-47FD-8038-B963CC7D7ACE}"/>
              </a:ext>
            </a:extLst>
          </p:cNvPr>
          <p:cNvSpPr>
            <a:spLocks xmlns:a="http://schemas.openxmlformats.org/drawingml/2006/main" noGrp="1"/>
          </p:cNvSpPr>
          <p:nvPr/>
        </p:nvSpPr>
        <p:spPr>
          <a:xfrm xmlns:a="http://schemas.openxmlformats.org/drawingml/2006/main">
            <a:off x="6248400" y="14668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0021"/>
          </a:bodyPr>
          <a:lstStyle xmlns:a="http://schemas.openxmlformats.org/drawingml/2006/main"/>
          <a:p xmlns:a="http://schemas.openxmlformats.org/drawingml/2006/main">
            <a:pPr algn="l">
              <a:lnSpc>
                <a:spcPct val="108000"/>
              </a:lnSpc>
              <a:buNone/>
              <a:defRPr sz="1800" b="1" i="0">
                <a:solidFill>
                  <a:srgbClr val="102A56"/>
                </a:solidFill>
                <a:latin typeface="Segoe UI"/>
                <a:ea typeface="Segoe UI"/>
                <a:cs typeface="Segoe UI"/>
              </a:defRPr>
            </a:pPr>
            <a:r>
              <a:rPr sz="1800" b="1" i="0">
                <a:solidFill>
                  <a:srgbClr val="102A56"/>
                </a:solidFill>
                <a:latin typeface="Segoe UI"/>
                <a:ea typeface="Segoe UI"/>
                <a:cs typeface="Segoe UI"/>
              </a:rPr>
              <a:t>Tài liệu tham khảo</a:t>
            </a:r>
          </a:p>
        </p:txBody>
      </p:sp>
      <p:sp>
        <p:nvSpPr>
          <p:cNvPr id="10" name="">
            <a:extLst xmlns:a="http://schemas.openxmlformats.org/drawingml/2006/main">
              <a:ext uri="{FF2B5EF4-FFF2-40B4-BE49-F238E27FC236}">
                <a16:creationId xmlns:a16="http://schemas.microsoft.com/office/drawing/2014/main" id="{B5D64783-1755-4BC5-8B5F-7921A8FAF109}"/>
              </a:ext>
            </a:extLst>
          </p:cNvPr>
          <p:cNvSpPr>
            <a:spLocks xmlns:a="http://schemas.openxmlformats.org/drawingml/2006/main" noGrp="1"/>
          </p:cNvSpPr>
          <p:nvPr/>
        </p:nvSpPr>
        <p:spPr>
          <a:xfrm xmlns:a="http://schemas.openxmlformats.org/drawingml/2006/main">
            <a:off x="6248400" y="1943100"/>
            <a:ext cx="4953000"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[1] NIST SP 800-63B-4. Digital Identity Guidelines. 2025.</a:t>
            </a:r>
          </a:p>
          <a:p xmlns:a="http://schemas.openxmlformats.org/drawingml/2006/main">
            <a:r>
              <a:t/>
            </a:r>
          </a:p>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[2] Gunetti, D. &amp; Picardi, C. Keystroke Analysis of Free Text. ACM TISSEC, 2005.</a:t>
            </a:r>
          </a:p>
          <a:p xmlns:a="http://schemas.openxmlformats.org/drawingml/2006/main">
            <a:r>
              <a:t/>
            </a:r>
          </a:p>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[3] Killourhy, K. &amp; Maxion, R. Comparing Anomaly-Detection Algorithms for Keystroke Dynamics. IEEE DSN, 2009.</a:t>
            </a:r>
          </a:p>
          <a:p xmlns:a="http://schemas.openxmlformats.org/drawingml/2006/main">
            <a:r>
              <a:t/>
            </a:r>
          </a:p>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[4] Bours, P. Continuous Keystroke Dynamics. ISTR, 2012.</a:t>
            </a:r>
          </a:p>
          <a:p xmlns:a="http://schemas.openxmlformats.org/drawingml/2006/main">
            <a:r>
              <a:t/>
            </a:r>
          </a:p>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[5] Stefan, D., Shu, X. &amp; Yao, D. Robustness against Synthetic Forgeries. Computers &amp; Security, 2012.</a:t>
            </a:r>
          </a:p>
          <a:p xmlns:a="http://schemas.openxmlformats.org/drawingml/2006/main">
            <a:r>
              <a:t/>
            </a:r>
          </a:p>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[6] Pisani, P. H. et al. Adaptive Biometric Systems. ACM Computing Surveys, 2019.</a:t>
            </a:r>
          </a:p>
          <a:p xmlns:a="http://schemas.openxmlformats.org/drawingml/2006/main">
            <a:r>
              <a:t/>
            </a:r>
          </a:p>
          <a:p xmlns:a="http://schemas.openxmlformats.org/drawingml/2006/main">
            <a:pPr algn="l">
              <a:lnSpc>
                <a:spcPct val="100000"/>
              </a:lnSpc>
              <a:buNone/>
              <a:defRPr sz="1200" b="0" i="0">
                <a:solidFill>
                  <a:srgbClr val="142033"/>
                </a:solidFill>
                <a:latin typeface="Segoe UI"/>
                <a:ea typeface="Segoe UI"/>
                <a:cs typeface="Segoe UI"/>
              </a:defRPr>
            </a:pPr>
            <a:r>
              <a:rPr sz="1200" b="0" i="0">
                <a:solidFill>
                  <a:srgbClr val="142033"/>
                </a:solidFill>
                <a:latin typeface="Segoe UI"/>
                <a:ea typeface="Segoe UI"/>
                <a:cs typeface="Segoe UI"/>
              </a:rPr>
              <a:t>[7] Liu, F. T., Ting, K. M. &amp; Zhou, Z.-H. Isolation Forest. IEEE ICDM, 2008.</a:t>
            </a:r>
          </a:p>
        </p:txBody>
      </p:sp>
      <p:sp>
        <p:nvSpPr>
          <p:cNvPr id="11" name="">
            <a:extLst xmlns:a="http://schemas.openxmlformats.org/drawingml/2006/main">
              <a:ext uri="{FF2B5EF4-FFF2-40B4-BE49-F238E27FC236}">
                <a16:creationId xmlns:a16="http://schemas.microsoft.com/office/drawing/2014/main" id="{FB53C2AC-16B9-423C-8DA6-F970A53E105D}"/>
              </a:ext>
            </a:extLst>
          </p:cNvPr>
          <p:cNvSpPr>
            <a:spLocks xmlns:a="http://schemas.openxmlformats.org/drawingml/2006/main" noGrp="1"/>
          </p:cNvSpPr>
          <p:nvPr/>
        </p:nvSpPr>
        <p:spPr>
          <a:xfrm xmlns:a="http://schemas.openxmlformats.org/drawingml/2006/main">
            <a:off x="10287000" y="6496050"/>
            <a:ext cx="1285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8000"/>
              </a:lnSpc>
              <a:buNone/>
              <a:defRPr sz="900" b="0" i="0">
                <a:solidFill>
                  <a:srgbClr val="506079"/>
                </a:solidFill>
                <a:latin typeface="Segoe UI"/>
                <a:ea typeface="Segoe UI"/>
                <a:cs typeface="Segoe UI"/>
              </a:defRPr>
            </a:pPr>
            <a:r>
              <a:rPr sz="900" b="0" i="0">
                <a:solidFill>
                  <a:srgbClr val="506079"/>
                </a:solidFill>
                <a:latin typeface="Segoe UI"/>
                <a:ea typeface="Segoe UI"/>
                <a:cs typeface="Segoe UI"/>
              </a:rPr>
              <a:t>Nhóm 02  |  MTH042</a:t>
            </a:r>
          </a:p>
        </p:txBody>
      </p:sp>
    </p:spTree>
    <p:extLst>
      <p:ext uri="{BB962C8B-B14F-4D97-AF65-F5344CB8AC3E}">
        <p14:creationId xmlns:p14="http://schemas.microsoft.com/office/powerpoint/2010/main" val="1316550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2026-10-07T15:41:18.5030000Z</dcterms:created>
  <dcterms:modified xsi:type="dcterms:W3CDTF">2026-10-07T15:41:18.5030000Z</dcterms:modified>
</coreProperties>
</file>